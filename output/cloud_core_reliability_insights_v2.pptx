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5603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11827"/>
                </a:solidFill>
                <a:latin typeface="Microsoft YaHei"/>
              </a:defRPr>
            </a:pPr>
            <a:r>
              <a:t>云核心网可靠性技术洞察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56DB"/>
                </a:solidFill>
                <a:latin typeface="Microsoft YaHei"/>
              </a:defRPr>
            </a:pPr>
            <a:r>
              <a:t>跨界借鉴与前沿技术追踪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核电异构架构 · 云Grid架构 · AI for可靠性 · 软件可靠性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Microsoft YaHei"/>
              </a:defRPr>
            </a:pPr>
            <a:r>
              <a:t>基于CCF A/B类学术文献 · IEC/IAEA/3GPP行业标准 · 头部厂商技术报告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2026年5月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5303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4份独立报告 + 1份综合分析  |  93+引用文献  |  195KB+深度内容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执行摘要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  <a:latin typeface="Microsoft YaHei"/>
              </a:defRPr>
            </a:pPr>
            <a:r>
              <a:t>面向高层决策者的四个方向核心发现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27432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274320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Track 1: 核电异构架构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• 纵深防御五层架构(IAEA SSR-2/1)</a:t>
            </a:r>
            <a:br/>
            <a:r>
              <a:t>• Beta因子量化: β 0.3→0.01(97%↓)</a:t>
            </a:r>
            <a:br/>
            <a:r>
              <a:t>• 堆芯损坏频率CDF &lt; 10⁻⁷/堆年</a:t>
            </a:r>
            <a:br/>
            <a:r>
              <a:t>• "能动+非能动"→VM+K8s双栈容灾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005840"/>
            <a:ext cx="27432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005840"/>
            <a:ext cx="274320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Track 2: 云Grid架构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508760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• 华为云Super AZ/UniformLive秒级切换</a:t>
            </a:r>
            <a:br/>
            <a:r>
              <a:t>• Cell-Based自治→5GC三层Cell部署</a:t>
            </a:r>
            <a:br/>
            <a:r>
              <a:t>• AMF Set跨Region + Anycast GTP-U</a:t>
            </a:r>
            <a:br/>
            <a:r>
              <a:t>• 数据一致性: Paxos/Raft强一致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27432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274320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Track 3: AI for 可靠性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508760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• 张圣林/裴丹团队最新成果(TOSEM/KDD)</a:t>
            </a:r>
            <a:br/>
            <a:r>
              <a:t>• 微软MSRA 25篇AIOps论文(HALO/NENYA)</a:t>
            </a:r>
            <a:br/>
            <a:r>
              <a:t>• Hermes Agent自进化+Harness Engineering</a:t>
            </a:r>
            <a:br/>
            <a:r>
              <a:t>• LLM运维(R-Log/Xpert/UniLog)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005840"/>
            <a:ext cx="27432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0" y="1005840"/>
            <a:ext cx="274320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Track 4: 软件可靠性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1508760"/>
            <a:ext cx="2468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• GNN/因果推断根因定位 + LLM免测试FL</a:t>
            </a:r>
            <a:br/>
            <a:r>
              <a:t>• RepairAgent(ICSE'25)自动程序修复</a:t>
            </a:r>
            <a:br/>
            <a:r>
              <a:t>• 5GC-Fuzz(CoreCrisis)专项协议Fuzzing</a:t>
            </a:r>
            <a:br/>
            <a:r>
              <a:t>• Google Tricorder/Meta Infer工业实践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37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量化目标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303520"/>
            <a:ext cx="2103120" cy="457200"/>
          </a:xfrm>
          <a:prstGeom prst="roundRect">
            <a:avLst>
              <a:gd name="adj" fmla="val 3000"/>
            </a:avLst>
          </a:prstGeom>
          <a:solidFill>
            <a:srgbClr val="1A56DB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可用性 99.999%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5303520"/>
            <a:ext cx="2103120" cy="457200"/>
          </a:xfrm>
          <a:prstGeom prst="roundRect">
            <a:avLst>
              <a:gd name="adj" fmla="val 3000"/>
            </a:avLst>
          </a:prstGeom>
          <a:solidFill>
            <a:srgbClr val="1A56DB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MTTD &lt; 30秒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5303520"/>
            <a:ext cx="2103120" cy="457200"/>
          </a:xfrm>
          <a:prstGeom prst="roundRect">
            <a:avLst>
              <a:gd name="adj" fmla="val 3000"/>
            </a:avLst>
          </a:prstGeom>
          <a:solidFill>
            <a:srgbClr val="1A56DB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MTTR &lt; 5分钟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5303520"/>
            <a:ext cx="2103120" cy="457200"/>
          </a:xfrm>
          <a:prstGeom prst="roundRect">
            <a:avLst>
              <a:gd name="adj" fmla="val 3000"/>
            </a:avLst>
          </a:prstGeom>
          <a:solidFill>
            <a:srgbClr val="1A56DB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Beta因子 &lt; 0.01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5303520"/>
            <a:ext cx="2103120" cy="457200"/>
          </a:xfrm>
          <a:prstGeom prst="roundRect">
            <a:avLst>
              <a:gd name="adj" fmla="val 3000"/>
            </a:avLst>
          </a:prstGeom>
          <a:solidFill>
            <a:srgbClr val="1A56DB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AI定位率 &gt;95%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Track 1: 核电异构架构洞察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  <a:latin typeface="Microsoft YaHei"/>
              </a:defRPr>
            </a:pPr>
            <a:r>
              <a:t>SIL 4级 · 纵深防御 · 异构冗余 · 共因故障防控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纵深防御五层架构 (Defense-in-Depth)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029200" cy="5303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L5 全局应急  —  场外应急响应、公众防护措施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29967"/>
            <a:ext cx="4800600" cy="530352"/>
          </a:xfrm>
          <a:prstGeom prst="rect">
            <a:avLst/>
          </a:prstGeom>
          <a:solidFill>
            <a:srgbClr val="EA5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L4 严重事故缓解  —  严重事故管理导则、附加安全设施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88336"/>
            <a:ext cx="4572000" cy="5303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L3 设计基准事故控制  —  反应堆保护系统、工程安全设施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46704"/>
            <a:ext cx="4343400" cy="5303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L2 偏差控制  —  限制系统、自动控制系统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005072"/>
            <a:ext cx="4114800" cy="53035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L1 预防  —  高质量设计建造、保守设计裕量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Beta因子递减路径（共因故障量化）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303520" cy="77724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DC2626"/>
                </a:solidFill>
                <a:latin typeface="Microsoft YaHei"/>
              </a:defRPr>
            </a:pPr>
            <a:r>
              <a:t>未防控  β≈0.30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同构冗余，CCF概率高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331720"/>
            <a:ext cx="5303520" cy="777240"/>
          </a:xfrm>
          <a:prstGeom prst="roundRect">
            <a:avLst>
              <a:gd name="adj" fmla="val 3000"/>
            </a:avLst>
          </a:prstGeom>
          <a:solidFill>
            <a:srgbClr val="DBEDE4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37744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D97706"/>
                </a:solidFill>
                <a:latin typeface="Microsoft YaHei"/>
              </a:defRPr>
            </a:pPr>
            <a:r>
              <a:t>镜像多样性  β≈0.15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多版本镜像并行，↓50%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291840"/>
            <a:ext cx="5303520" cy="777240"/>
          </a:xfrm>
          <a:prstGeom prst="roundRect">
            <a:avLst>
              <a:gd name="adj" fmla="val 3000"/>
            </a:avLst>
          </a:prstGeom>
          <a:solidFill>
            <a:srgbClr val="A7F3D0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16A34A"/>
                </a:solidFill>
                <a:latin typeface="Microsoft YaHei"/>
              </a:defRPr>
            </a:pPr>
            <a:r>
              <a:t>技术栈异构  β≈0.05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VM+K8s双栈，↓83%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251960"/>
            <a:ext cx="5303520" cy="777240"/>
          </a:xfrm>
          <a:prstGeom prst="roundRect">
            <a:avLst>
              <a:gd name="adj" fmla="val 3000"/>
            </a:avLst>
          </a:prstGeom>
          <a:solidFill>
            <a:srgbClr val="6EE7B7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29768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047857"/>
                </a:solidFill>
                <a:latin typeface="Microsoft YaHei"/>
              </a:defRPr>
            </a:pPr>
            <a:r>
              <a:t>多云部署  β≈0.01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跨云/混合云，↓97%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t>[图源] IAEA SSR-2/1(2016) Fig.1 Defence-in-depth; NUREG/CR-6303(2009) Fig.3-1 Diversity strategies; IEC 61508:2010 Part6 表B/C 共因故障Beta因子; IAEA Safety Reports No.90 Fig.5 CCF防御策略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Track 2: 云Grid架构洞察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  <a:latin typeface="Microsoft YaHei"/>
              </a:defRPr>
            </a:pPr>
            <a:r>
              <a:t>Cell-Based自治 · 华为云Super AZ · 秒级无感切换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架构演进路线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2651760" cy="54864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主备模式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分钟~小时RTO</a:t>
            </a:r>
          </a:p>
        </p:txBody>
      </p:sp>
      <p:sp>
        <p:nvSpPr>
          <p:cNvPr id="8" name="Chevron 7"/>
          <p:cNvSpPr/>
          <p:nvPr/>
        </p:nvSpPr>
        <p:spPr>
          <a:xfrm>
            <a:off x="3108960" y="1417320"/>
            <a:ext cx="365760" cy="320040"/>
          </a:xfrm>
          <a:prstGeom prst="chevron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37560" y="1325880"/>
            <a:ext cx="2651760" cy="54864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同城双活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920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秒级RTO</a:t>
            </a:r>
          </a:p>
        </p:txBody>
      </p:sp>
      <p:sp>
        <p:nvSpPr>
          <p:cNvPr id="11" name="Chevron 10"/>
          <p:cNvSpPr/>
          <p:nvPr/>
        </p:nvSpPr>
        <p:spPr>
          <a:xfrm>
            <a:off x="5989320" y="1417320"/>
            <a:ext cx="365760" cy="320040"/>
          </a:xfrm>
          <a:prstGeom prst="chevron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2651760" cy="54864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异地多活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920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分钟RTO</a:t>
            </a:r>
          </a:p>
        </p:txBody>
      </p:sp>
      <p:sp>
        <p:nvSpPr>
          <p:cNvPr id="14" name="Chevron 13"/>
          <p:cNvSpPr/>
          <p:nvPr/>
        </p:nvSpPr>
        <p:spPr>
          <a:xfrm>
            <a:off x="8869680" y="1417320"/>
            <a:ext cx="365760" cy="320040"/>
          </a:xfrm>
          <a:prstGeom prst="chevron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98280" y="1325880"/>
            <a:ext cx="2651760" cy="54864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Grid架构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9202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秒级/无感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286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华为云Grid架构层次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651760"/>
            <a:ext cx="5303520" cy="50292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6700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全局控制面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RGC(Resource Governance Center) — 统一资源编排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246120"/>
            <a:ext cx="5303520" cy="50292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2644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Grid调度层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智能调度引擎 — 跨Cell负载均衡、故障转移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40480"/>
            <a:ext cx="5303520" cy="50292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8587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Cell自治层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Super AZ — 自包含计算/存储/网络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434840"/>
            <a:ext cx="5303520" cy="50292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4531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数据同步层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DRS + GaussDB分布式 — 跨Cell强一致性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029200"/>
            <a:ext cx="5303520" cy="50292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0474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服务治理层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CSE微服务引擎 — 服务注册、熔断、灰度发布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286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厂商对比矩阵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651760"/>
            <a:ext cx="2651760" cy="109728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69748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华为云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111827"/>
                </a:solidFill>
                <a:latin typeface="Microsoft YaHei"/>
              </a:defRPr>
            </a:pPr>
            <a:r>
              <a:t>Super AZ, UniformLive</a:t>
            </a:r>
            <a:br/>
            <a:r>
              <a:t>GaussDB, CSE, DRS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电信级+互联网弹性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2651760"/>
            <a:ext cx="2651760" cy="109728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269748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AWS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111827"/>
                </a:solidFill>
                <a:latin typeface="Microsoft YaHei"/>
              </a:defRPr>
            </a:pPr>
            <a:r>
              <a:t>Multi-AZ, Aurora Global</a:t>
            </a:r>
            <a:br/>
            <a:r>
              <a:t>DevOps Guru, Auto Reasoning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最成熟云生态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931920"/>
            <a:ext cx="2651760" cy="109728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9776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Google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111827"/>
                </a:solidFill>
                <a:latin typeface="Microsoft YaHei"/>
              </a:defRPr>
            </a:pPr>
            <a:r>
              <a:t>Borg/Omega, Spanner</a:t>
            </a:r>
            <a:br/>
            <a:r>
              <a:t>SRE体系, ACA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全球分布式先驱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3931920"/>
            <a:ext cx="2651760" cy="109728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39776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Azure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111827"/>
                </a:solidFill>
                <a:latin typeface="Microsoft YaHei"/>
              </a:defRPr>
            </a:pPr>
            <a:r>
              <a:t>AZ, Cosmos DB</a:t>
            </a:r>
            <a:br/>
            <a:r>
              <a:t>Chaos Studio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企业级混合云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t>[图源] 华为云分布式云战略白皮书(2023) Fig.2 Grid架构; Verma et al., Borg, EuroSys 2015 Fig.1; Corbett et al., Spanner, TOCS 2013 Fig.1; AWS Well-Architected Reliability Pillar(2024)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5G核心网Grid化部署方案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  <a:latin typeface="Microsoft YaHei"/>
              </a:defRPr>
            </a:pPr>
            <a:r>
              <a:t>三层Cell架构 · UPF无感切换 · AMF/SMF异地多活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097280"/>
            <a:ext cx="4114800" cy="128016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11827"/>
                </a:solidFill>
                <a:latin typeface="Microsoft YaHei"/>
              </a:defRPr>
            </a:pPr>
            <a:r>
              <a:t>中心Cell</a:t>
            </a:r>
            <a:br/>
            <a:r>
              <a:t>UDM · AUSF · NRF</a:t>
            </a:r>
            <a:br/>
            <a:r>
              <a:t>全国/省级控制面</a:t>
            </a:r>
            <a:br/>
            <a:r>
              <a:t>核心DC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43200"/>
            <a:ext cx="4114800" cy="128016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11827"/>
                </a:solidFill>
                <a:latin typeface="Microsoft YaHei"/>
              </a:defRPr>
            </a:pPr>
            <a:r>
              <a:t>区域Cell</a:t>
            </a:r>
            <a:br/>
            <a:r>
              <a:t>AMF · SMF · UPF · PCF</a:t>
            </a:r>
            <a:br/>
            <a:r>
              <a:t>区域控制面+用户面</a:t>
            </a:r>
            <a:br/>
            <a:r>
              <a:t>地市DC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389120"/>
            <a:ext cx="4114800" cy="128016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111827"/>
                </a:solidFill>
                <a:latin typeface="Microsoft YaHei"/>
              </a:defRPr>
            </a:pPr>
            <a:r>
              <a:t>边缘Cell</a:t>
            </a:r>
            <a:br/>
            <a:r>
              <a:t>边缘UPF · MEC应用</a:t>
            </a:r>
            <a:br/>
            <a:r>
              <a:t>超低延迟处理</a:t>
            </a:r>
            <a:br/>
            <a:r>
              <a:t>基站侧/边缘DC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关键技术方案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029200" cy="118872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4173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UPF跨Region无感切换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111827"/>
                </a:solidFill>
                <a:latin typeface="Microsoft YaHei"/>
              </a:defRPr>
            </a:pPr>
            <a:r>
              <a:t>Anycast GTP-U + 会话状态同步</a:t>
            </a:r>
            <a:br/>
            <a:r>
              <a:t>RPO=0, RTO&lt;1s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t>参考: 华为云UniformLive架构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743200"/>
            <a:ext cx="5029200" cy="118872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7889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AMF异地多活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111827"/>
                </a:solidFill>
                <a:latin typeface="Microsoft YaHei"/>
              </a:defRPr>
            </a:pPr>
            <a:r>
              <a:t>AMF Set跨Region + SCTP Multi-homing</a:t>
            </a:r>
            <a:br/>
            <a:r>
              <a:t>GUAMI动态重分配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t>参考: 3GPP TS 23.501 §5.5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114800"/>
            <a:ext cx="5029200" cy="118872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41605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1A56DB"/>
                </a:solidFill>
                <a:latin typeface="Microsoft YaHei"/>
              </a:defRPr>
            </a:pPr>
            <a:r>
              <a:t>Session数据一致性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111827"/>
                </a:solidFill>
                <a:latin typeface="Microsoft YaHei"/>
              </a:defRPr>
            </a:pPr>
            <a:r>
              <a:t>强一致: Paxos/Raft (UE上下文)</a:t>
            </a:r>
            <a:br/>
            <a:r>
              <a:t>最终一致: 异步复制 (计费数据)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t>参考: GaussDB分布式事务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t>[图源] 3GPP TS 23.501 v18.4.0 Fig.4.2.3-1 5GC架构; TS 23.502 Fig.4.2.2 Registration; 华为云DRS数据复制服务 huaweicloud.com/product/drs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Track 3: AI for 可靠性洞察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  <a:latin typeface="Microsoft YaHei"/>
              </a:defRPr>
            </a:pPr>
            <a:r>
              <a:t>感知-诊断-预测-自愈闭环 · 张圣林/裴丹/微软MSRA最新成果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2697480" cy="274320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" y="1097280"/>
            <a:ext cx="1188720" cy="11887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感知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异常检测</a:t>
            </a:r>
            <a:br/>
            <a:r>
              <a:t>告警聚合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3464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56DB"/>
                </a:solidFill>
                <a:latin typeface="Microsoft YaHei"/>
              </a:defRPr>
            </a:pPr>
            <a:r>
              <a:t>iTransformer</a:t>
            </a:r>
            <a:br/>
            <a:r>
              <a:t>PaAno(ICLR'26)</a:t>
            </a:r>
            <a:br/>
            <a:r>
              <a:t>Anomaly Transformer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54680" y="1463040"/>
            <a:ext cx="320040" cy="27432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1005840"/>
            <a:ext cx="2697480" cy="274320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69080" y="1097280"/>
            <a:ext cx="1188720" cy="118872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诊断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3774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根因定位</a:t>
            </a:r>
            <a:br/>
            <a:r>
              <a:t>故障溯源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83464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56DB"/>
                </a:solidFill>
                <a:latin typeface="Microsoft YaHei"/>
              </a:defRPr>
            </a:pPr>
            <a:r>
              <a:t>MicroRCA(SIGCOMM)</a:t>
            </a:r>
            <a:br/>
            <a:r>
              <a:t>Mulan(WWW'24)</a:t>
            </a:r>
            <a:br/>
            <a:r>
              <a:t>TraceRCA(IWQOS)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80760" y="1463040"/>
            <a:ext cx="320040" cy="27432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005840"/>
            <a:ext cx="2697480" cy="274320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95160" y="1097280"/>
            <a:ext cx="1188720" cy="118872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预测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774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故障预警</a:t>
            </a:r>
            <a:br/>
            <a:r>
              <a:t>预测扩缩容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83464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56DB"/>
                </a:solidFill>
                <a:latin typeface="Microsoft YaHei"/>
              </a:defRPr>
            </a:pPr>
            <a:r>
              <a:t>PatchTST</a:t>
            </a:r>
            <a:br/>
            <a:r>
              <a:t>TimesFM</a:t>
            </a:r>
            <a:br/>
            <a:r>
              <a:t>CAD(KDD'23)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006840" y="1463040"/>
            <a:ext cx="320040" cy="27432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35440" y="1005840"/>
            <a:ext cx="2697480" cy="274320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21240" y="1097280"/>
            <a:ext cx="1188720" cy="11887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自愈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3774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自动恢复</a:t>
            </a:r>
            <a:br/>
            <a:r>
              <a:t>容灾决策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83464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56DB"/>
                </a:solidFill>
                <a:latin typeface="Microsoft YaHei"/>
              </a:defRPr>
            </a:pPr>
            <a:r>
              <a:t>NENYA(KDD'22)</a:t>
            </a:r>
            <a:br/>
            <a:r>
              <a:t>Hermes Agent</a:t>
            </a:r>
            <a:br/>
            <a:r>
              <a:t>RL self-healing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931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权威学术研究（2024-2026高影响力论文）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51960"/>
            <a:ext cx="11247120" cy="59436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27024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张圣林(南开)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270248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11827"/>
                </a:solidFill>
                <a:latin typeface="Microsoft YaHei"/>
              </a:defRPr>
            </a:pPr>
            <a:r>
              <a:t>多模态诊断(TSC'23,125引) · 时序知识图谱(TSC'24)</a:t>
            </a:r>
            <a:br/>
            <a:r>
              <a:t>AIOpsLab(FSE'25) · R-Log LLM日志(arXiv'25)</a:t>
            </a:r>
            <a:br/>
            <a:r>
              <a:t>微服务故障综述(TOSEM'25,85引)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27024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CA3AF"/>
                </a:solidFill>
                <a:latin typeface="Microsoft YaHei"/>
              </a:defRPr>
            </a:pPr>
            <a:r>
              <a:t>图源: Zhang et al., TOSEM 2025 Fig.1 诊断方法分类; TSC 2024 Fig.2 知识图谱架构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937760"/>
            <a:ext cx="11247120" cy="59436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95604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裴丹(清华)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4956048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11827"/>
                </a:solidFill>
                <a:latin typeface="Microsoft YaHei"/>
              </a:defRPr>
            </a:pPr>
            <a:r>
              <a:t>KPI预训练(KDD'24) · TraceRCA(IWQOS'21,223引)</a:t>
            </a:r>
            <a:br/>
            <a:r>
              <a:t>多模态自适应(ICSE'24,31引) · TimeSeriesBench(ISSRE'24)</a:t>
            </a:r>
            <a:br/>
            <a:r>
              <a:t>日志解析基准(ICSE'19,706引)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95604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CA3AF"/>
                </a:solidFill>
                <a:latin typeface="Microsoft YaHei"/>
              </a:defRPr>
            </a:pPr>
            <a:r>
              <a:t>图源: Ma et al., ICSE 2024 Fig.3 多模态框架; KDD 2024 Fig.2 预训练架构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623560"/>
            <a:ext cx="11247120" cy="59436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64184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A56DB"/>
                </a:solidFill>
                <a:latin typeface="Microsoft YaHei"/>
              </a:defRPr>
            </a:pPr>
            <a:r>
              <a:t>微软MSRA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5641848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111827"/>
                </a:solidFill>
                <a:latin typeface="Microsoft YaHei"/>
              </a:defRPr>
            </a:pPr>
            <a:r>
              <a:t>HALO层次定位(KDD'21) · NENYA级联RL(KDD'22)</a:t>
            </a:r>
            <a:br/>
            <a:r>
              <a:t>RESIN内存泄漏(OSDI'22) · Xpert LLM事件(ICSE'24)</a:t>
            </a:r>
            <a:br/>
            <a:r>
              <a:t>SPINE日志解析(FSE'22 Best Paper)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564184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CA3AF"/>
                </a:solidFill>
                <a:latin typeface="Microsoft YaHei"/>
              </a:defRPr>
            </a:pPr>
            <a:r>
              <a:t>图源: NENYA, KDD 2022 Fig.2 级联RL架构; HALO, KDD 2021 Fig.3 层次定位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AI Agent工程实践与可靠性保障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  <a:latin typeface="Microsoft YaHei"/>
              </a:defRPr>
            </a:pPr>
            <a:r>
              <a:t>Hermes Agent · Harness Engineering · Claude Code · OpenClaw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577840" cy="246888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Hermes Agent</a:t>
            </a:r>
            <a:br/>
            <a:r>
              <a:t>(Nous Research, 2026.2)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111827"/>
                </a:solidFill>
                <a:latin typeface="Microsoft YaHei"/>
              </a:defRPr>
            </a:pPr>
            <a:r>
              <a:t>• 64K+ GitHub stars, 开源自进化AI Agent</a:t>
            </a:r>
            <a:br/>
            <a:r>
              <a:t>• 闭环学习: DSPy+GEPA自动进化技能</a:t>
            </a:r>
            <a:br/>
            <a:r>
              <a:t>• 四层记忆系统, 跨会话持久化</a:t>
            </a:r>
            <a:br/>
            <a:r>
              <a:t>• 3个CVE(2026.4)警示安全边界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crosoft YaHei"/>
              </a:defRPr>
            </a:pPr>
            <a:r>
              <a:t>图源: github.com/nousresearch/hermes-agent README架构图;</a:t>
            </a:r>
            <a:br/>
            <a:r>
              <a:t>mranand.substack.com 技术深文 Fig.1 Learning Loop; Fig.2 Memory Layers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05840"/>
            <a:ext cx="5577840" cy="246888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05156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Harness Engineering</a:t>
            </a:r>
            <a:br/>
            <a:r>
              <a:t>(2025-2026新兴学科)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111827"/>
                </a:solidFill>
                <a:latin typeface="Microsoft YaHei"/>
              </a:defRPr>
            </a:pPr>
            <a:r>
              <a:t>• Agent = Model + Harness 理念</a:t>
            </a:r>
            <a:br/>
            <a:r>
              <a:t>• arXiv 2602.16666: 12指标Agent可靠性</a:t>
            </a:r>
            <a:br/>
            <a:r>
              <a:t>• CAR框架: Control·Agency·Runtime</a:t>
            </a:r>
            <a:br/>
            <a:r>
              <a:t>• OpenAI Harness: 仓库脚手架+CI管控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crosoft YaHei"/>
              </a:defRPr>
            </a:pPr>
            <a:r>
              <a:t>图源: arxiv 2602.16666v2 Fig.2 可靠性指标分解;</a:t>
            </a:r>
            <a:br/>
            <a:r>
              <a:t>preprints.org 202603.1756 Fig.1 CAR分解; openai.com/index/harness-engineering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49039"/>
            <a:ext cx="5577840" cy="246888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794759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Claude Code</a:t>
            </a:r>
            <a:br/>
            <a:r>
              <a:t>(Anthropic, #1 Agent)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111827"/>
                </a:solidFill>
                <a:latin typeface="Microsoft YaHei"/>
              </a:defRPr>
            </a:pPr>
            <a:r>
              <a:t>• arXiv 2604.14228 设计空间论文</a:t>
            </a:r>
            <a:br/>
            <a:r>
              <a:t>• 测试驱动: 实现→运行测试→调试→迭代</a:t>
            </a:r>
            <a:br/>
            <a:r>
              <a:t>• MCP协议: 连接Sentry/Datadog/K8s</a:t>
            </a:r>
            <a:br/>
            <a:r>
              <a:t>• 管道式日志: tail -f | claude -p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crosoft YaHei"/>
              </a:defRPr>
            </a:pPr>
            <a:r>
              <a:t>图源: arxiv 2604.14228v1 Fig.2 Agent设计空间;</a:t>
            </a:r>
            <a:br/>
            <a:r>
              <a:t>docs.anthropic.com/claude-code 架构图; MCP protocol modelcontextprotocol.io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749039"/>
            <a:ext cx="5577840" cy="246888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3794759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OpenClaw</a:t>
            </a:r>
            <a:br/>
            <a:r>
              <a:t>(150K-280K stars, 2025.11)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111827"/>
                </a:solidFill>
                <a:latin typeface="Microsoft YaHei"/>
              </a:defRPr>
            </a:pPr>
            <a:r>
              <a:t>• 本地网关架构, 自托管运行</a:t>
            </a:r>
            <a:br/>
            <a:r>
              <a:t>• WhatsApp/Telegram/Slack集成</a:t>
            </a:r>
            <a:br/>
            <a:r>
              <a:t>• Active Memory + Task Brain(2026)</a:t>
            </a:r>
            <a:br/>
            <a:r>
              <a:t>• 创建者加入OpenAI后转独立治理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9CA3AF"/>
                </a:solidFill>
                <a:latin typeface="Microsoft YaHei"/>
              </a:defRPr>
            </a:pPr>
            <a:r>
              <a:t>图源: openclaw.ai 官网架构图;</a:t>
            </a:r>
            <a:br/>
            <a:r>
              <a:t>tosea.ai/blog/openclaw Fig.1 Local Gateway架构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Track 4: 软件可靠性洞察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  <a:latin typeface="Microsoft YaHei"/>
              </a:defRPr>
            </a:pPr>
            <a:r>
              <a:t>Bug发现·定界定位·自动修复 — 全链路软件可靠性工程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全链路Bug管理流水线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697480" cy="146304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静态分析</a:t>
            </a:r>
            <a:br/>
            <a:r>
              <a:t>Fuzzing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Tricorder</a:t>
            </a:r>
            <a:br/>
            <a:r>
              <a:t>AFL-Net</a:t>
            </a:r>
            <a:br/>
            <a:r>
              <a:t>5GC-Fuzz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1783080"/>
            <a:ext cx="320040" cy="27432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1371600"/>
            <a:ext cx="2697480" cy="146304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4173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783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SBFL</a:t>
            </a:r>
            <a:br/>
            <a:r>
              <a:t>LLM定位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2860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Ochiai</a:t>
            </a:r>
            <a:br/>
            <a:r>
              <a:t>AgentFL</a:t>
            </a:r>
            <a:br/>
            <a:r>
              <a:t>RepairAgent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80760" y="1783080"/>
            <a:ext cx="320040" cy="27432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1371600"/>
            <a:ext cx="2697480" cy="146304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173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修复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783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APR</a:t>
            </a:r>
            <a:br/>
            <a:r>
              <a:t>LLM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2860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ICSE'25</a:t>
            </a:r>
            <a:br/>
            <a:r>
              <a:t>DebugRepair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006840" y="1783080"/>
            <a:ext cx="320040" cy="27432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35440" y="1371600"/>
            <a:ext cx="2697480" cy="146304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14173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1783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回归测试</a:t>
            </a:r>
            <a:br/>
            <a:r>
              <a:t>灰度发布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2860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Harness CV</a:t>
            </a:r>
            <a:br/>
            <a:r>
              <a:t>金丝雀部署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017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工业界大规模实践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383280"/>
            <a:ext cx="3566160" cy="164592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42900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Google Tricorder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11827"/>
                </a:solidFill>
                <a:latin typeface="Microsoft YaHei"/>
              </a:defRPr>
            </a:pPr>
            <a:r>
              <a:t>数百种静态分析器嵌入代码审查</a:t>
            </a:r>
            <a:br/>
            <a:r>
              <a:t>每日分析数十亿行代码</a:t>
            </a:r>
            <a:br/>
            <a:r>
              <a:t>2026: LLM集成测试诊断(Critique)</a:t>
            </a:r>
            <a:br/>
            <a:r>
              <a:t>图源: Sadowski, CACM 2018 Fig.1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3383280"/>
            <a:ext cx="3566160" cy="164592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342900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Meta Infer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11827"/>
                </a:solidFill>
                <a:latin typeface="Microsoft YaHei"/>
              </a:defRPr>
            </a:pPr>
            <a:r>
              <a:t>分离逻辑+双推导分析</a:t>
            </a:r>
            <a:br/>
            <a:r>
              <a:t>每日扫描数百万行代码</a:t>
            </a:r>
            <a:br/>
            <a:r>
              <a:t>ESOP 2024增强组合式框架</a:t>
            </a:r>
            <a:br/>
            <a:r>
              <a:t>图源: Distefano, CACM 2019 Fig.2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383280"/>
            <a:ext cx="3566160" cy="164592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342900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5GC专项Fuzzing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11827"/>
                </a:solidFill>
                <a:latin typeface="Microsoft YaHei"/>
              </a:defRPr>
            </a:pPr>
            <a:r>
              <a:t>5GC-Fuzz(INFOCOM'25)黑盒测试</a:t>
            </a:r>
            <a:br/>
            <a:r>
              <a:t>CoreCrisis(USENIX Sec'25)</a:t>
            </a:r>
            <a:br/>
            <a:r>
              <a:t>AFL-Net有状态协议Fuzzing</a:t>
            </a:r>
            <a:br/>
            <a:r>
              <a:t>图源: Sun, INFOCOM 2025 Fig.2 5GC测试架构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5212080"/>
            <a:ext cx="11430000" cy="82296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56DB"/>
                </a:solidFill>
                <a:latin typeface="Microsoft YaHei"/>
              </a:defRPr>
            </a:pPr>
            <a:r>
              <a:t>核心网DevOps集成: 代码提交(静态分析) → 构建(增量Fuzzing) → 测试(一致性+接口Fuzzing) → 部署(灰度+智能回滚) → 运维(AIOps根因定位)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综合洞察：核心网超可靠架构蓝图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  <a:latin typeface="Microsoft YaHei"/>
              </a:defRPr>
            </a:pPr>
            <a:r>
              <a:t>核电纵深防御 × 云Grid工程 × AI全链路赋能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7772400" cy="7498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第5层 全局应急  —  DNS全局调度 · 灾难恢复 · 事后分析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115568"/>
            <a:ext cx="1280160" cy="45720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C2626"/>
                </a:solidFill>
                <a:latin typeface="Microsoft YaHei"/>
              </a:defRPr>
            </a:pPr>
            <a:r>
              <a:t>RTO&lt;30min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0972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CA3AF"/>
                </a:solidFill>
                <a:latin typeface="Microsoft YaHei"/>
              </a:defRPr>
            </a:pPr>
            <a:r>
              <a:t>图源: IAEA SSR-2/1 DiD第5层; 华为云GSLB架构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01952"/>
            <a:ext cx="7498079" cy="749808"/>
          </a:xfrm>
          <a:prstGeom prst="rect">
            <a:avLst/>
          </a:prstGeom>
          <a:solidFill>
            <a:srgbClr val="EA5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第4层 Region容灾  —  跨Region切换 · 异构冗余(β&lt;0.01) · 数据恢复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9" y="2011680"/>
            <a:ext cx="1280160" cy="45720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A583C"/>
                </a:solidFill>
                <a:latin typeface="Microsoft YaHei"/>
              </a:defRPr>
            </a:pPr>
            <a:r>
              <a:t>RTO&lt;5min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99339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CA3AF"/>
                </a:solidFill>
                <a:latin typeface="Microsoft YaHei"/>
              </a:defRPr>
            </a:pPr>
            <a:r>
              <a:t>图源: 华为云Grid Cell架构 Fig.3; NENYA KDD'22 RL容灾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98064"/>
            <a:ext cx="7223760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第3层 AZ容灾  —  Pod自动重启 · AZ内切换 · 熔断降级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907792"/>
            <a:ext cx="1280160" cy="45720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97706"/>
                </a:solidFill>
                <a:latin typeface="Microsoft YaHei"/>
              </a:defRPr>
            </a:pPr>
            <a:r>
              <a:t>RTO&lt;1min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889504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CA3AF"/>
                </a:solidFill>
                <a:latin typeface="Microsoft YaHei"/>
              </a:defRPr>
            </a:pPr>
            <a:r>
              <a:t>图源: Kubernetes Pod生命周期; Netflix Chaos Monkey实验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94176"/>
            <a:ext cx="6949440" cy="7498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第2层 检测控制  —  AI异常检测(Transformer) · 限流降级 · 多层健康检查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3803904"/>
            <a:ext cx="1280160" cy="45720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A34A"/>
                </a:solidFill>
                <a:latin typeface="Microsoft YaHei"/>
              </a:defRPr>
            </a:pPr>
            <a:r>
              <a:t>MTTD&lt;30s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785616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CA3AF"/>
                </a:solidFill>
                <a:latin typeface="Microsoft YaHei"/>
              </a:defRPr>
            </a:pPr>
            <a:r>
              <a:t>图源: Anomaly Transformer ICLR'22 Fig.1; iTransformer Fig.2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90288"/>
            <a:ext cx="6675120" cy="7498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第1层 代码预防  —  静态分析+Fuzzing · 代码审查 · CI/CD流水线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4700016"/>
            <a:ext cx="1280160" cy="45720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5803D"/>
                </a:solidFill>
                <a:latin typeface="Microsoft YaHei"/>
              </a:defRPr>
            </a:pPr>
            <a:r>
              <a:t>缺陷↓50%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4681728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CA3AF"/>
                </a:solidFill>
                <a:latin typeface="Microsoft YaHei"/>
              </a:defRPr>
            </a:pPr>
            <a:r>
              <a:t>图源: Sadowski, CACM 2018 Fig.1 Tricorder架构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综合洞察：开发态 × 运行态 全链路闭环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  <a:latin typeface="Microsoft YaHei"/>
              </a:defRPr>
            </a:pPr>
            <a:r>
              <a:t>AI for可靠性 + 软件可靠性 → 分钟级故障修复全流程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2148840" cy="128016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11827"/>
                </a:solidFill>
                <a:latin typeface="Microsoft YaHei"/>
              </a:defRPr>
            </a:pPr>
            <a:r>
              <a:t>运行时异常检测</a:t>
            </a:r>
            <a:br/>
            <a:br/>
            <a:r>
              <a:t>Track 3</a:t>
            </a:r>
            <a:br/>
            <a:r>
              <a:t>Transformer/SSM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23160" y="1463040"/>
            <a:ext cx="320040" cy="27432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51760" y="1097280"/>
            <a:ext cx="2148840" cy="128016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11827"/>
                </a:solidFill>
                <a:latin typeface="Microsoft YaHei"/>
              </a:defRPr>
            </a:pPr>
            <a:r>
              <a:t>根因网元定位</a:t>
            </a:r>
            <a:br/>
            <a:br/>
            <a:r>
              <a:t>Track 3</a:t>
            </a:r>
            <a:br/>
            <a:r>
              <a:t>GNN/因果推断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00600" y="1463040"/>
            <a:ext cx="320040" cy="27432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0" y="1097280"/>
            <a:ext cx="2148840" cy="128016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11827"/>
                </a:solidFill>
                <a:latin typeface="Microsoft YaHei"/>
              </a:defRPr>
            </a:pPr>
            <a:r>
              <a:t>代码级故障定位</a:t>
            </a:r>
            <a:br/>
            <a:br/>
            <a:r>
              <a:t>Track 4</a:t>
            </a:r>
            <a:br/>
            <a:r>
              <a:t>SBFL/LLM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78040" y="1463040"/>
            <a:ext cx="320040" cy="27432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06640" y="1097280"/>
            <a:ext cx="2148840" cy="128016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11827"/>
                </a:solidFill>
                <a:latin typeface="Microsoft YaHei"/>
              </a:defRPr>
            </a:pPr>
            <a:r>
              <a:t>自动代码修复</a:t>
            </a:r>
            <a:br/>
            <a:br/>
            <a:r>
              <a:t>Track 4</a:t>
            </a:r>
            <a:br/>
            <a:r>
              <a:t>RepairAgent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555480" y="1463040"/>
            <a:ext cx="320040" cy="274320"/>
          </a:xfrm>
          <a:prstGeom prst="rightArrow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84080" y="1097280"/>
            <a:ext cx="2148840" cy="128016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111827"/>
                </a:solidFill>
                <a:latin typeface="Microsoft YaHei"/>
              </a:defRPr>
            </a:pPr>
            <a:r>
              <a:t>验证部署上线</a:t>
            </a:r>
            <a:br/>
            <a:br/>
            <a:r>
              <a:t>Track 4+3</a:t>
            </a:r>
            <a:br/>
            <a:r>
              <a:t>CI/CD+Harness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运维范式转变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17520"/>
            <a:ext cx="5303520" cy="146304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63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DC2626"/>
                </a:solidFill>
                <a:latin typeface="Microsoft YaHei"/>
              </a:defRPr>
            </a:pPr>
            <a:r>
              <a:t>传统模式 (被动响应)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故障发生 → 告警触发 → 人工定位(30min+)</a:t>
            </a:r>
            <a:br/>
            <a:r>
              <a:t>→ 人工处置 → 事后复盘</a:t>
            </a:r>
            <a:br/>
            <a:r>
              <a:t>MTTR: 30分钟 ~ 数小时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017520"/>
            <a:ext cx="5303520" cy="1463040"/>
          </a:xfrm>
          <a:prstGeom prst="roundRect">
            <a:avLst>
              <a:gd name="adj" fmla="val 3000"/>
            </a:avLst>
          </a:prstGeom>
          <a:solidFill>
            <a:srgbClr val="F0FDF4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063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16A34A"/>
                </a:solidFill>
                <a:latin typeface="Microsoft YaHei"/>
              </a:defRPr>
            </a:pPr>
            <a:r>
              <a:t>目标模式 (主动预防)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AI预测风险 → 自动评估 → 预置防御</a:t>
            </a:r>
            <a:br/>
            <a:r>
              <a:t>→ 故障时自动自愈 → 自动复盘</a:t>
            </a:r>
            <a:br/>
            <a:r>
              <a:t>MTTR: &lt;5分钟 (大部分&lt;1分钟)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63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LLM — 贯穿开发态与运行态的桥梁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029200"/>
            <a:ext cx="11247120" cy="109728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111827"/>
                </a:solidFill>
                <a:latin typeface="Microsoft YaHei"/>
              </a:defRPr>
            </a:pPr>
            <a:r>
              <a:t>开发态: 免测试故障定位(AgentFL, ICSE'24) → 自动程序修复(RepairAgent, ICSE'25) → 智能Fuzzing种子生成</a:t>
            </a:r>
            <a:br/>
            <a:r>
              <a:t>运行态: 日志分析(R-Log, arXiv'25, +228%) → 告警理解(Zha, Electronics'24) → 修复建议(Xpert, ICSE'24)</a:t>
            </a:r>
            <a:br/>
            <a:r>
              <a:t>策略: 高置信度自动执行 | 中置信度人机协同 | 低置信度人工决策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技术演进路线图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  <a:latin typeface="Microsoft YaHei"/>
              </a:defRPr>
            </a:pPr>
            <a:r>
              <a:t>短期(6月) → 中期(1-2年) → 长期(3-5年)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474720" cy="548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短期 6个月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3474720" cy="237744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● S1: 静态分析集成CI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● S2: ML异常检测(KPI)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● S3: 告警聚合机制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● S4: 协议Fuzzing(AFL++)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● S5: Beta因子基线评估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005840"/>
            <a:ext cx="347472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中期 1-2年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00200"/>
            <a:ext cx="3474720" cy="237744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6459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● M1: Grid化同城多活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● M2: AI根因定位系统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● M3: LLM运维助手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● M4: 异构双栈部署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● M5: 智能话务预测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05840"/>
            <a:ext cx="3474720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长期 3-5年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00200"/>
            <a:ext cx="3474720" cy="237744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6459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● L1: 全国Grid化部署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● L2: 多云异构容灾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● L3: AI全自动自愈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● L4: 概率风险评估(PSA)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● L5: LLM持续可靠性工程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  <a:latin typeface="Microsoft YaHei"/>
              </a:defRPr>
            </a:pPr>
            <a:r>
              <a:t>量化目标演进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56DB"/>
                </a:solidFill>
                <a:latin typeface="Microsoft YaHei"/>
              </a:defRPr>
            </a:pPr>
            <a:r>
              <a:t>指标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5720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56DB"/>
                </a:solidFill>
                <a:latin typeface="Microsoft YaHei"/>
              </a:defRPr>
            </a:pPr>
            <a:r>
              <a:t>当前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5720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56DB"/>
                </a:solidFill>
                <a:latin typeface="Microsoft YaHei"/>
              </a:defRPr>
            </a:pPr>
            <a:r>
              <a:t>短期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79" y="45720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56DB"/>
                </a:solidFill>
                <a:latin typeface="Microsoft YaHei"/>
              </a:defRPr>
            </a:pPr>
            <a:r>
              <a:t>中期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45720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56DB"/>
                </a:solidFill>
                <a:latin typeface="Microsoft YaHei"/>
              </a:defRPr>
            </a:pPr>
            <a:r>
              <a:t>长期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737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Microsoft YaHei"/>
              </a:defRPr>
            </a:pPr>
            <a:r>
              <a:t>可用性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48737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Microsoft YaHei"/>
              </a:defRPr>
            </a:pPr>
            <a:r>
              <a:t>99.99%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8737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Microsoft YaHei"/>
              </a:defRPr>
            </a:pPr>
            <a:r>
              <a:t>99.995%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79" y="48737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Microsoft YaHei"/>
              </a:defRPr>
            </a:pPr>
            <a:r>
              <a:t>99.999%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48737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Microsoft YaHei"/>
              </a:defRPr>
            </a:pPr>
            <a:r>
              <a:t>99.9995%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1755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Microsoft YaHei"/>
              </a:defRPr>
            </a:pPr>
            <a:r>
              <a:t>MTTD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51755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Microsoft YaHei"/>
              </a:defRPr>
            </a:pPr>
            <a:r>
              <a:t>5-15min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51755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Microsoft YaHei"/>
              </a:defRPr>
            </a:pPr>
            <a:r>
              <a:t>&lt;1min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79" y="51755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Microsoft YaHei"/>
              </a:defRPr>
            </a:pPr>
            <a:r>
              <a:t>&lt;30s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51755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Microsoft YaHei"/>
              </a:defRPr>
            </a:pPr>
            <a:r>
              <a:t>&lt;10s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47725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Microsoft YaHei"/>
              </a:defRPr>
            </a:pPr>
            <a:r>
              <a:t>MTTR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547725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Microsoft YaHei"/>
              </a:defRPr>
            </a:pPr>
            <a:r>
              <a:t>30-60min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547725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Microsoft YaHei"/>
              </a:defRPr>
            </a:pPr>
            <a:r>
              <a:t>&lt;10min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79" y="547725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Microsoft YaHei"/>
              </a:defRPr>
            </a:pPr>
            <a:r>
              <a:t>&lt;5min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547725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Microsoft YaHei"/>
              </a:defRPr>
            </a:pPr>
            <a:r>
              <a:t>&lt;1min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7790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Microsoft YaHei"/>
              </a:defRPr>
            </a:pPr>
            <a:r>
              <a:t>Beta因子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57790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Microsoft YaHei"/>
              </a:defRPr>
            </a:pPr>
            <a:r>
              <a:t>~0.3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57790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Microsoft YaHei"/>
              </a:defRPr>
            </a:pPr>
            <a:r>
              <a:t>0.2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79" y="57790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Microsoft YaHei"/>
              </a:defRPr>
            </a:pPr>
            <a:r>
              <a:t>0.05-0.15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57790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Microsoft YaHei"/>
              </a:defRPr>
            </a:pPr>
            <a:r>
              <a:t>&lt;0.01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0807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Microsoft YaHei"/>
              </a:defRPr>
            </a:pPr>
            <a:r>
              <a:t>AI定位率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51760" y="60807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Microsoft YaHei"/>
              </a:defRPr>
            </a:pPr>
            <a:r>
              <a:t>&lt;10%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60807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Microsoft YaHei"/>
              </a:defRPr>
            </a:pPr>
            <a:r>
              <a:t>30%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79" y="60807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Microsoft YaHei"/>
              </a:defRPr>
            </a:pPr>
            <a:r>
              <a:t>70%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60807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11827"/>
                </a:solidFill>
                <a:latin typeface="Microsoft YaHei"/>
              </a:defRPr>
            </a:pPr>
            <a:r>
              <a:t>&gt;95%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结论与行动建议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  <a:latin typeface="Microsoft YaHei"/>
              </a:defRPr>
            </a:pPr>
            <a:r>
              <a:t>面向云核心网产品决策者和架构师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3474720" cy="137160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方法论 × 工程实践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核电纵深防御方法论 + 云Grid工程实践</a:t>
            </a:r>
            <a:br/>
            <a:r>
              <a:t>= 核心网"超可靠架构蓝图"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05840"/>
            <a:ext cx="3474720" cy="137160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0515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AI是倍增器非替代品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先建立坚实架构基础(Grid/异构冗余)</a:t>
            </a:r>
            <a:br/>
            <a:r>
              <a:t>再叠加AI能力提升效率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005840"/>
            <a:ext cx="3474720" cy="137160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0515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1A56DB"/>
                </a:solidFill>
                <a:latin typeface="Microsoft YaHei"/>
              </a:defRPr>
            </a:pPr>
            <a:r>
              <a:t>LLM贯穿开发与运行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827"/>
                </a:solidFill>
                <a:latin typeface="Microsoft YaHei"/>
              </a:defRPr>
            </a:pPr>
            <a:r>
              <a:t>同时重塑软件开发(Bug定位/修复)</a:t>
            </a:r>
            <a:br/>
            <a:r>
              <a:t>和运行时(日志分析/自愈决策)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Microsoft YaHei"/>
              </a:defRPr>
            </a:pPr>
            <a:r>
              <a:t>五项行动建议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063240"/>
            <a:ext cx="365760" cy="36576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63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Microsoft YaHei"/>
              </a:defRPr>
            </a:pPr>
            <a:r>
              <a:t>立即启动可靠性基线评估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063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量化Beta因子、MTTD、MTTR → 为投入决策提供数据基础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657600"/>
            <a:ext cx="365760" cy="36576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Microsoft YaHei"/>
              </a:defRPr>
            </a:pPr>
            <a:r>
              <a:t>6个月内完成"低垂果实"采摘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657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静态分析集成 + AI异常检测 + 告警聚合 → 投入产出比最高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251960"/>
            <a:ext cx="365760" cy="36576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251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Microsoft YaHei"/>
              </a:defRPr>
            </a:pPr>
            <a:r>
              <a:t>1年内启动Grid化同城多活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2519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中长期架构演进基础，先在非关键业务试点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4846320"/>
            <a:ext cx="365760" cy="36576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846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Microsoft YaHei"/>
              </a:defRPr>
            </a:pPr>
            <a:r>
              <a:t>建立跨领域可靠性工程团队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846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核电方法论 + AI/ML + 云原生 + 电信核心网四领域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5440680"/>
            <a:ext cx="365760" cy="36576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440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  <a:latin typeface="Microsoft YaHei"/>
              </a:defRPr>
            </a:pPr>
            <a:r>
              <a:t>制定3-5年演进路线图并定期审视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5440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每季度审视，参考核电定期安全审查制度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CA3AF"/>
                </a:solidFill>
                <a:latin typeface="Microsoft YaHei"/>
              </a:defRPr>
            </a:pPr>
            <a:r>
              <a:t>12/18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