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webp"/><Relationship Id="rId2" Type="http://schemas.openxmlformats.org/officeDocument/2006/relationships/image" Target="../media/image-5-2.webp"/><Relationship Id="rId3" Type="http://schemas.openxmlformats.org/officeDocument/2006/relationships/image" Target="../media/image-5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云核心网高稳智能体故障快速恢复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AWS与微软技术路径对比与启示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0" y="2377440"/>
            <a:ext cx="4572000" cy="0"/>
          </a:xfrm>
          <a:prstGeom prst="line">
            <a:avLst/>
          </a:prstGeom>
          <a:noFill/>
          <a:ln w="19050">
            <a:solidFill>
              <a:srgbClr val="2A5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C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基于AWS DevOps Agent与Microsoft AIOps Triangle System的对比分析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971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3C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（2025-2026）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14400" y="411480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1B3A5C">
              <a:alpha val="60000"/>
            </a:srgbClr>
          </a:solidFill>
          <a:ln w="6350">
            <a:solidFill>
              <a:srgbClr val="2A5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Agent自治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80360" y="411480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1B3A5C">
              <a:alpha val="60000"/>
            </a:srgbClr>
          </a:solidFill>
          <a:ln w="6350">
            <a:solidFill>
              <a:srgbClr val="2A5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Skill优化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411480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1B3A5C">
              <a:alpha val="60000"/>
            </a:srgbClr>
          </a:solidFill>
          <a:ln w="6350">
            <a:solidFill>
              <a:srgbClr val="2A5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多Agent协作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12280" y="4114800"/>
            <a:ext cx="2011680" cy="365760"/>
          </a:xfrm>
          <a:prstGeom prst="roundRect">
            <a:avLst>
              <a:gd name="adj" fmla="val 12500"/>
            </a:avLst>
          </a:prstGeom>
          <a:solidFill>
            <a:srgbClr val="1B3A5C">
              <a:alpha val="60000"/>
            </a:srgbClr>
          </a:solidFill>
          <a:ln w="6350">
            <a:solidFill>
              <a:srgbClr val="2A5A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1148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故障快速恢复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问题背景：分布式系统运维复杂度爆炸</a:t>
            </a:r>
            <a:endParaRPr lang="en-US" sz="1800" dirty="0"/>
          </a:p>
        </p:txBody>
      </p:sp>
      <p:pic>
        <p:nvPicPr>
          <p:cNvPr id="5" name="Image 0" descr="D:\code\ccn_research_2\ccn_research_2\ppt_images\problem_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594360"/>
            <a:ext cx="886968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技术路径演进：从规则监控到Agent自治</a:t>
            </a:r>
            <a:endParaRPr lang="en-US" sz="1800" dirty="0"/>
          </a:p>
        </p:txBody>
      </p:sp>
      <p:pic>
        <p:nvPicPr>
          <p:cNvPr id="5" name="Image 0" descr="D:\code\ccn_research_2\ccn_research_2\ppt_images\tech_path_evolut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594360"/>
            <a:ext cx="8869680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37160" y="3520440"/>
            <a:ext cx="4297680" cy="1417320"/>
          </a:xfrm>
          <a:prstGeom prst="roundRect">
            <a:avLst>
              <a:gd name="adj" fmla="val 3871"/>
            </a:avLst>
          </a:prstGeom>
          <a:solidFill>
            <a:srgbClr val="0D2240"/>
          </a:solidFill>
          <a:ln/>
        </p:spPr>
      </p:sp>
      <p:sp>
        <p:nvSpPr>
          <p:cNvPr id="7" name="Text 4"/>
          <p:cNvSpPr/>
          <p:nvPr/>
        </p:nvSpPr>
        <p:spPr>
          <a:xfrm>
            <a:off x="274320" y="35478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 DevOps Agent 架构</a:t>
            </a:r>
            <a:endParaRPr lang="en-US" sz="1000" dirty="0"/>
          </a:p>
        </p:txBody>
      </p:sp>
      <p:pic>
        <p:nvPicPr>
          <p:cNvPr id="8" name="Image 1" descr="D:\code\ccn_research_2\ccn_research_2\ppt_images\aws_6c_architectur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82880" y="3749040"/>
            <a:ext cx="4206240" cy="11430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09160" y="3520440"/>
            <a:ext cx="4297680" cy="1417320"/>
          </a:xfrm>
          <a:prstGeom prst="roundRect">
            <a:avLst>
              <a:gd name="adj" fmla="val 3871"/>
            </a:avLst>
          </a:prstGeom>
          <a:solidFill>
            <a:srgbClr val="0C1E38"/>
          </a:solidFill>
          <a:ln/>
        </p:spPr>
      </p:sp>
      <p:sp>
        <p:nvSpPr>
          <p:cNvPr id="10" name="Text 6"/>
          <p:cNvSpPr/>
          <p:nvPr/>
        </p:nvSpPr>
        <p:spPr>
          <a:xfrm>
            <a:off x="4846320" y="3547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AIOpsLab + Triangle System</a:t>
            </a:r>
            <a:endParaRPr lang="en-US" sz="1000" dirty="0"/>
          </a:p>
        </p:txBody>
      </p:sp>
      <p:pic>
        <p:nvPicPr>
          <p:cNvPr id="11" name="Image 2" descr="D:\code\ccn_research_2\ccn_research_2\ppt_images\ms_aiopslab_arch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54880" y="3749040"/>
            <a:ext cx="420624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0"/>
            <a:ext cx="4297680" cy="5143500"/>
          </a:xfrm>
          <a:prstGeom prst="rect">
            <a:avLst/>
          </a:prstGeom>
          <a:solidFill>
            <a:srgbClr val="0D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709160" y="0"/>
            <a:ext cx="4297680" cy="5143500"/>
          </a:xfrm>
          <a:prstGeom prst="rect">
            <a:avLst/>
          </a:prstGeom>
          <a:solidFill>
            <a:srgbClr val="0C1E38"/>
          </a:solidFill>
          <a:ln/>
        </p:spPr>
      </p:sp>
      <p:sp>
        <p:nvSpPr>
          <p:cNvPr id="4" name="Shape 2"/>
          <p:cNvSpPr/>
          <p:nvPr/>
        </p:nvSpPr>
        <p:spPr>
          <a:xfrm>
            <a:off x="4526280" y="0"/>
            <a:ext cx="91440" cy="51435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"/>
            <a:ext cx="4023360" cy="411480"/>
          </a:xfrm>
          <a:prstGeom prst="roundRect">
            <a:avLst>
              <a:gd name="adj" fmla="val 11111"/>
            </a:avLst>
          </a:prstGeom>
          <a:solidFill>
            <a:srgbClr val="1B4F72">
              <a:alpha val="7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AWS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91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3C4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Agent + Bedrock AgentCore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91440"/>
            <a:ext cx="4023360" cy="411480"/>
          </a:xfrm>
          <a:prstGeom prst="roundRect">
            <a:avLst>
              <a:gd name="adj" fmla="val 11111"/>
            </a:avLst>
          </a:prstGeom>
          <a:solidFill>
            <a:srgbClr val="0078D4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914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0" y="91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FB8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Triangle System + AIOpsLab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566928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162F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3464" y="621792"/>
            <a:ext cx="54864" cy="57607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594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38912" y="822960"/>
            <a:ext cx="3749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C8DA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分布式系统复杂度剧增，告警疲劳严重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C8DA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SRE需手动关联日志/指标/部署历史，MTTR以小时计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C8DA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数据分散在CloudWatch、Datadog、GitHub等多工具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1316736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162F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83464" y="1371600"/>
            <a:ext cx="54864" cy="57607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1344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技术路径演进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8912" y="1572768"/>
            <a:ext cx="3749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C8DA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规则监控(2018前) → AIOps异常检测(DevOps Guru, 2020)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C8DA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LLM辅助根因分析(Bedrock RAG, 2023-24)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C8DA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Agent自治运维(DevOps Agent, 2025-26 GA)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2066544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162F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83464" y="2121408"/>
            <a:ext cx="54864" cy="94183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1" name="Text 19"/>
          <p:cNvSpPr/>
          <p:nvPr/>
        </p:nvSpPr>
        <p:spPr>
          <a:xfrm>
            <a:off x="438912" y="2093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912" y="2322576"/>
            <a:ext cx="3749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C8DA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DevOps Agent基于AgentCore，6C能力(Context/Control/Convenience/Collaboration/Continuous Learning/Cost)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C8DA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三层Skill体系：AWS内置 + 用户自定义 + 学习型Skill(自动从历史故障中学习)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C8DA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拓扑智能：自动发现资源依赖，跨账户跨云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C8DA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Agent Spaces治理模型，不可变审计日志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182112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162F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83464" y="3236976"/>
            <a:ext cx="54864" cy="48463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5" name="Text 23"/>
          <p:cNvSpPr/>
          <p:nvPr/>
        </p:nvSpPr>
        <p:spPr>
          <a:xfrm>
            <a:off x="438912" y="32095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效果指标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38912" y="3438144"/>
            <a:ext cx="3749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C8DA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MTTR↓75% | 调查加速80% | 根因准确率94% | WGU案例: 2h→28min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384048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162F4A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83464" y="3895344"/>
            <a:ext cx="54864" cy="667512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3867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对云核心网高稳智能体的启示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38912" y="4096512"/>
            <a:ext cx="3749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C8DA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三层Skill架构值得借鉴，学习型Skill实现知识持续积累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C8DA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拓扑智能是快速定位跨域故障的关键能力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C8DA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Spaces治理模型保障自治安全性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46320" y="566928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13365C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55464" y="621792"/>
            <a:ext cx="54864" cy="576072"/>
          </a:xfrm>
          <a:prstGeom prst="rect">
            <a:avLst/>
          </a:prstGeom>
          <a:solidFill>
            <a:srgbClr val="00BCF2"/>
          </a:solidFill>
          <a:ln/>
        </p:spPr>
      </p:sp>
      <p:sp>
        <p:nvSpPr>
          <p:cNvPr id="33" name="Text 31"/>
          <p:cNvSpPr/>
          <p:nvPr/>
        </p:nvSpPr>
        <p:spPr>
          <a:xfrm>
            <a:off x="5010912" y="594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问题背景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10912" y="822960"/>
            <a:ext cx="3749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8D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Azure数百个服务相互依赖，事件分诊效率低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8D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无人能掌握全部领域知识，导致冗余分派和TTM延长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8D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手动诊断已无法应对规模化运维需求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46320" y="1316736"/>
            <a:ext cx="4023360" cy="685800"/>
          </a:xfrm>
          <a:prstGeom prst="roundRect">
            <a:avLst>
              <a:gd name="adj" fmla="val 8000"/>
            </a:avLst>
          </a:prstGeom>
          <a:solidFill>
            <a:srgbClr val="13365C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55464" y="1371600"/>
            <a:ext cx="54864" cy="576072"/>
          </a:xfrm>
          <a:prstGeom prst="rect">
            <a:avLst/>
          </a:prstGeom>
          <a:solidFill>
            <a:srgbClr val="00BCF2"/>
          </a:solidFill>
          <a:ln/>
        </p:spPr>
      </p:sp>
      <p:sp>
        <p:nvSpPr>
          <p:cNvPr id="37" name="Text 35"/>
          <p:cNvSpPr/>
          <p:nvPr/>
        </p:nvSpPr>
        <p:spPr>
          <a:xfrm>
            <a:off x="5010912" y="1344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技术路径演进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10912" y="1572768"/>
            <a:ext cx="37490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8D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规则监控(2019前) → AIOps异常检测(Azure Monitor, 2020)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8D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LLM辅助分诊(Triangle System Local, 2024)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8D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多Agent自治(Triangle Global + AIOpsLab, 2025-26)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46320" y="2066544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13365C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55464" y="2121408"/>
            <a:ext cx="54864" cy="941832"/>
          </a:xfrm>
          <a:prstGeom prst="rect">
            <a:avLst/>
          </a:prstGeom>
          <a:solidFill>
            <a:srgbClr val="00BCF2"/>
          </a:solidFill>
          <a:ln/>
        </p:spPr>
      </p:sp>
      <p:sp>
        <p:nvSpPr>
          <p:cNvPr id="41" name="Text 39"/>
          <p:cNvSpPr/>
          <p:nvPr/>
        </p:nvSpPr>
        <p:spPr>
          <a:xfrm>
            <a:off x="5010912" y="2093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10912" y="2322576"/>
            <a:ext cx="374904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8D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Triangle System: Local Triage(单Agent二值决策) + Global Triage(多Agent协商分诊)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8D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AIOpsLab开源框架：覆盖故障注入→检测→诊断→缓解全生命周期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8D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Agent-Cloud Interface(ACI)标准化接口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8D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GPT语义嵌入 + TSG知识编码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846320" y="3182112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13365C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55464" y="3236976"/>
            <a:ext cx="54864" cy="484632"/>
          </a:xfrm>
          <a:prstGeom prst="rect">
            <a:avLst/>
          </a:prstGeom>
          <a:solidFill>
            <a:srgbClr val="00BCF2"/>
          </a:solidFill>
          <a:ln/>
        </p:spPr>
      </p:sp>
      <p:sp>
        <p:nvSpPr>
          <p:cNvPr id="45" name="Text 43"/>
          <p:cNvSpPr/>
          <p:nvPr/>
        </p:nvSpPr>
        <p:spPr>
          <a:xfrm>
            <a:off x="5010912" y="32095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效果指标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010912" y="3438144"/>
            <a:ext cx="3749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8D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分诊准确率90% | TTM↓38% | 事件调查自动化90% | 6团队上线, 15+接入中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46320" y="3840480"/>
            <a:ext cx="4023360" cy="777240"/>
          </a:xfrm>
          <a:prstGeom prst="roundRect">
            <a:avLst>
              <a:gd name="adj" fmla="val 7059"/>
            </a:avLst>
          </a:prstGeom>
          <a:solidFill>
            <a:srgbClr val="13365C"/>
          </a:solidFill>
          <a:ln/>
          <a:effectLst>
            <a:outerShdw sx="100000" sy="100000" kx="0" ky="0" algn="bl" rotWithShape="0" blurRad="50800" dist="12700" dir="8100000">
              <a:srgbClr val="000000">
                <a:alpha val="2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855464" y="3895344"/>
            <a:ext cx="54864" cy="667512"/>
          </a:xfrm>
          <a:prstGeom prst="rect">
            <a:avLst/>
          </a:prstGeom>
          <a:solidFill>
            <a:srgbClr val="00BCF2"/>
          </a:solidFill>
          <a:ln/>
        </p:spPr>
      </p:sp>
      <p:sp>
        <p:nvSpPr>
          <p:cNvPr id="49" name="Text 47"/>
          <p:cNvSpPr/>
          <p:nvPr/>
        </p:nvSpPr>
        <p:spPr>
          <a:xfrm>
            <a:off x="5010912" y="3867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对云核心网高稳智能体的启示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010912" y="4096512"/>
            <a:ext cx="3749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8D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多Agent协作分诊模式适合复杂网络拓扑的故障定位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8D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ACI标准化接口值得参考，实现Agent与系统解耦</a:t>
            </a:r>
            <a:endParaRPr lang="en-US" sz="8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B8D4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人机协同分层自治(In/On/Out of loop)是安全演进路径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6101F"/>
          </a:solidFill>
          <a:ln/>
        </p:spPr>
      </p:sp>
      <p:sp>
        <p:nvSpPr>
          <p:cNvPr id="52" name="Text 50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6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数据来源: AWS DevOps Agent官方博客(2025-2026) | Microsoft Azure Triangle System(2025) | Microsoft Research AIOpsLab(SoCC'24) | TM Forum Agentic AIOps(2026)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5488"/>
            <a:ext cx="9144000" cy="27432"/>
          </a:xfrm>
          <a:prstGeom prst="rect">
            <a:avLst/>
          </a:prstGeom>
          <a:solidFill>
            <a:srgbClr val="00BCF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Triangle System 分诊架构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7160" y="594360"/>
            <a:ext cx="4297680" cy="2103120"/>
          </a:xfrm>
          <a:prstGeom prst="roundRect">
            <a:avLst>
              <a:gd name="adj" fmla="val 2609"/>
            </a:avLst>
          </a:prstGeom>
          <a:solidFill>
            <a:srgbClr val="0C1E3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21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 Triage System（单Agent分诊）</a:t>
            </a:r>
            <a:endParaRPr lang="en-US" sz="1100" dirty="0"/>
          </a:p>
        </p:txBody>
      </p:sp>
      <p:pic>
        <p:nvPicPr>
          <p:cNvPr id="7" name="Image 0" descr="D:\code\ccn_research_2\ccn_research_2\ppt_images\ms_triangle_local.web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" y="896112"/>
            <a:ext cx="4114800" cy="17373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09160" y="594360"/>
            <a:ext cx="4297680" cy="2103120"/>
          </a:xfrm>
          <a:prstGeom prst="roundRect">
            <a:avLst>
              <a:gd name="adj" fmla="val 2609"/>
            </a:avLst>
          </a:prstGeom>
          <a:solidFill>
            <a:srgbClr val="0C1E38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6217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Global Triage System（多Agent协商）</a:t>
            </a:r>
            <a:endParaRPr lang="en-US" sz="1100" dirty="0"/>
          </a:p>
        </p:txBody>
      </p:sp>
      <p:pic>
        <p:nvPicPr>
          <p:cNvPr id="10" name="Image 1" descr="D:\code\ccn_research_2\ccn_research_2\ppt_images\ms_triangle_global.webp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00600" y="896112"/>
            <a:ext cx="4114800" cy="17373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37160" y="2834640"/>
            <a:ext cx="8869680" cy="2148840"/>
          </a:xfrm>
          <a:prstGeom prst="roundRect">
            <a:avLst>
              <a:gd name="adj" fmla="val 2553"/>
            </a:avLst>
          </a:prstGeom>
          <a:solidFill>
            <a:srgbClr val="0D1B2A"/>
          </a:solidFill>
          <a:ln/>
        </p:spPr>
      </p:sp>
      <p:sp>
        <p:nvSpPr>
          <p:cNvPr id="12" name="Text 8"/>
          <p:cNvSpPr/>
          <p:nvPr/>
        </p:nvSpPr>
        <p:spPr>
          <a:xfrm>
            <a:off x="274320" y="28620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AIOpsLab 开源评估框架：覆盖故障注入 → 检测 → 诊断 → 缓解全生命周期</a:t>
            </a:r>
            <a:endParaRPr lang="en-US" sz="1100" dirty="0"/>
          </a:p>
        </p:txBody>
      </p:sp>
      <p:pic>
        <p:nvPicPr>
          <p:cNvPr id="13" name="Image 2" descr="D:\code\ccn_research_2\ccn_research_2\ppt_images\ms_aiopslab_arch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" y="3136392"/>
            <a:ext cx="8595360" cy="1783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4A6A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图片来源: Microsoft Azure Blog (2025) | Microsoft Research AIOpsLab (SoCC'24)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AWS与微软技术路径对比与启示</dc:title>
  <dc:subject>PptxGenJS Presentation</dc:subject>
  <dc:creator>CCN Research</dc:creator>
  <cp:lastModifiedBy>CCN Research</cp:lastModifiedBy>
  <cp:revision>1</cp:revision>
  <dcterms:created xsi:type="dcterms:W3CDTF">2026-06-11T02:49:10Z</dcterms:created>
  <dcterms:modified xsi:type="dcterms:W3CDTF">2026-06-11T02:49:10Z</dcterms:modified>
</cp:coreProperties>
</file>