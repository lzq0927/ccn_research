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1216152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2026上半年 AI技术趋势与云核心网高稳智能体启示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从“陪聊”到“干活”的Agent元年 | 幻觉消除技术突破 | 产业落地加速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332720" y="182880"/>
            <a:ext cx="1463040" cy="365760"/>
          </a:xfrm>
          <a:prstGeom prst="rect">
            <a:avLst>
              <a:gd name="adj" fmla="val 12500"/>
            </a:avLst>
          </a:prstGeom>
          <a:solidFill>
            <a:srgbClr val="00BCD4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332720" y="182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3794760" cy="27432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68680"/>
            <a:ext cx="379476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◆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H1 AI趋势总览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207008"/>
            <a:ext cx="3703320" cy="9144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Agent元年：从对话式AI → 行动式Agent范式转移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247K★ 爆火，Hermes Agent 2240亿token/天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华为MWC2026发布AgenticCore，核心网+Agent商用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L4自智网络进入规模化部署阶段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2258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趋势对比</a:t>
            </a:r>
            <a:endParaRPr lang="en-US" sz="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487168"/>
          <a:ext cx="35204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交互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问答对话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BC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自主执行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部署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云端SaaS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BC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本地/私有化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焦点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模型能力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BC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安全/可靠性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206240" y="868680"/>
            <a:ext cx="3794760" cy="27432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06240" y="868680"/>
            <a:ext cx="379476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◆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vs Hermes 深度对比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51960" y="1207008"/>
            <a:ext cx="3703320" cy="20116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247K★ | 奥地利 | 已加入OpenAI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Hub-Spoke四层架构, 20+平台, 自托管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安全: 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CVE-2026-25253 (CVSS 8.8)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ClawHub 12%恶意技能 | Prompt注入未解决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幻觉控制: 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无内置机制 ⚠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───────────── 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NousResearch | OpenRouter #1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多模型协作 + 子Agent并行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核心创新: 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幻觉门控(Hallucination Gate)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子Agent隔离 + 目标锁定(/goal)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自进化: 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Learning Loop ✓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138160" y="868680"/>
            <a:ext cx="3794760" cy="27432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38160" y="868680"/>
            <a:ext cx="379476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7"/>
          <p:cNvSpPr/>
          <p:nvPr/>
        </p:nvSpPr>
        <p:spPr>
          <a:xfrm>
            <a:off x="8275320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◆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幻觉消除技术栈与基准数据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75320" y="12070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Vectara HHEM 幻觉率基准 (2026中)</a:t>
            </a:r>
            <a:endParaRPr lang="en-US" sz="7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1435608"/>
          <a:ext cx="3520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幻觉率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适用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43A0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4个前沿模型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43A0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&lt;1%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受限领域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GPT-5.4 Mini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FF8F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~5.5%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高频巡检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GPT-5.5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FF8F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~9.3%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推理/编码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4.7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43A0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低*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事实查询★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8275320" y="239572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六层幻觉防御栈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8321040" y="3332988"/>
            <a:ext cx="3337560" cy="128016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5" name="Text 21"/>
          <p:cNvSpPr/>
          <p:nvPr/>
        </p:nvSpPr>
        <p:spPr>
          <a:xfrm>
            <a:off x="8321040" y="3332988"/>
            <a:ext cx="3337560" cy="12801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 人机确认</a:t>
            </a:r>
            <a:endParaRPr lang="en-US" sz="550" dirty="0"/>
          </a:p>
        </p:txBody>
      </p:sp>
      <p:sp>
        <p:nvSpPr>
          <p:cNvPr id="26" name="Shape 22"/>
          <p:cNvSpPr/>
          <p:nvPr/>
        </p:nvSpPr>
        <p:spPr>
          <a:xfrm>
            <a:off x="8321040" y="3191256"/>
            <a:ext cx="3337560" cy="12801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7" name="Text 23"/>
          <p:cNvSpPr/>
          <p:nvPr/>
        </p:nvSpPr>
        <p:spPr>
          <a:xfrm>
            <a:off x="8321040" y="3191256"/>
            <a:ext cx="3337560" cy="12801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优雅拒绝</a:t>
            </a:r>
            <a:endParaRPr lang="en-US" sz="550" dirty="0"/>
          </a:p>
        </p:txBody>
      </p:sp>
      <p:sp>
        <p:nvSpPr>
          <p:cNvPr id="28" name="Shape 24"/>
          <p:cNvSpPr/>
          <p:nvPr/>
        </p:nvSpPr>
        <p:spPr>
          <a:xfrm>
            <a:off x="8321040" y="3049524"/>
            <a:ext cx="3337560" cy="128016"/>
          </a:xfrm>
          <a:prstGeom prst="rect">
            <a:avLst/>
          </a:prstGeom>
          <a:solidFill>
            <a:srgbClr val="1F6F8B"/>
          </a:solidFill>
          <a:ln/>
        </p:spPr>
      </p:sp>
      <p:sp>
        <p:nvSpPr>
          <p:cNvPr id="29" name="Text 25"/>
          <p:cNvSpPr/>
          <p:nvPr/>
        </p:nvSpPr>
        <p:spPr>
          <a:xfrm>
            <a:off x="8321040" y="3049524"/>
            <a:ext cx="3337560" cy="12801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幻觉门控</a:t>
            </a:r>
            <a:endParaRPr lang="en-US" sz="550" dirty="0"/>
          </a:p>
        </p:txBody>
      </p:sp>
      <p:sp>
        <p:nvSpPr>
          <p:cNvPr id="30" name="Shape 26"/>
          <p:cNvSpPr/>
          <p:nvPr/>
        </p:nvSpPr>
        <p:spPr>
          <a:xfrm>
            <a:off x="8321040" y="2907792"/>
            <a:ext cx="3337560" cy="128016"/>
          </a:xfrm>
          <a:prstGeom prst="rect">
            <a:avLst/>
          </a:prstGeom>
          <a:solidFill>
            <a:srgbClr val="21838E"/>
          </a:solidFill>
          <a:ln/>
        </p:spPr>
      </p:sp>
      <p:sp>
        <p:nvSpPr>
          <p:cNvPr id="31" name="Text 27"/>
          <p:cNvSpPr/>
          <p:nvPr/>
        </p:nvSpPr>
        <p:spPr>
          <a:xfrm>
            <a:off x="8321040" y="2907792"/>
            <a:ext cx="3337560" cy="12801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多Agent分工</a:t>
            </a:r>
            <a:endParaRPr lang="en-US" sz="550" dirty="0"/>
          </a:p>
        </p:txBody>
      </p:sp>
      <p:sp>
        <p:nvSpPr>
          <p:cNvPr id="32" name="Shape 28"/>
          <p:cNvSpPr/>
          <p:nvPr/>
        </p:nvSpPr>
        <p:spPr>
          <a:xfrm>
            <a:off x="8321040" y="2766060"/>
            <a:ext cx="3337560" cy="128016"/>
          </a:xfrm>
          <a:prstGeom prst="rect">
            <a:avLst/>
          </a:prstGeom>
          <a:solidFill>
            <a:srgbClr val="239B76"/>
          </a:solidFill>
          <a:ln/>
        </p:spPr>
      </p:sp>
      <p:sp>
        <p:nvSpPr>
          <p:cNvPr id="33" name="Text 29"/>
          <p:cNvSpPr/>
          <p:nvPr/>
        </p:nvSpPr>
        <p:spPr>
          <a:xfrm>
            <a:off x="8321040" y="2766060"/>
            <a:ext cx="3337560" cy="12801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RAG知识落地</a:t>
            </a:r>
            <a:endParaRPr lang="en-US" sz="550" dirty="0"/>
          </a:p>
        </p:txBody>
      </p:sp>
      <p:sp>
        <p:nvSpPr>
          <p:cNvPr id="34" name="Shape 30"/>
          <p:cNvSpPr/>
          <p:nvPr/>
        </p:nvSpPr>
        <p:spPr>
          <a:xfrm>
            <a:off x="8321040" y="2624328"/>
            <a:ext cx="3337560" cy="128016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5" name="Text 31"/>
          <p:cNvSpPr/>
          <p:nvPr/>
        </p:nvSpPr>
        <p:spPr>
          <a:xfrm>
            <a:off x="8321040" y="2624328"/>
            <a:ext cx="3337560" cy="12801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低幻觉模型</a:t>
            </a:r>
            <a:endParaRPr lang="en-US" sz="550" dirty="0"/>
          </a:p>
        </p:txBody>
      </p:sp>
      <p:sp>
        <p:nvSpPr>
          <p:cNvPr id="36" name="Shape 32"/>
          <p:cNvSpPr/>
          <p:nvPr/>
        </p:nvSpPr>
        <p:spPr>
          <a:xfrm>
            <a:off x="274320" y="3474720"/>
            <a:ext cx="7726680" cy="27432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274320" y="3474720"/>
            <a:ext cx="772668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8" name="Text 34"/>
          <p:cNvSpPr/>
          <p:nvPr/>
        </p:nvSpPr>
        <p:spPr>
          <a:xfrm>
            <a:off x="411480" y="347472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云核心网高稳智能体推荐架构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57200" y="3877056"/>
            <a:ext cx="1785366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0" name="Text 36"/>
          <p:cNvSpPr/>
          <p:nvPr/>
        </p:nvSpPr>
        <p:spPr>
          <a:xfrm>
            <a:off x="457200" y="3877056"/>
            <a:ext cx="1785366" cy="32004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感知Agent</a:t>
            </a:r>
            <a:endParaRPr lang="en-US" sz="70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告警/监控/拓扑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2196846" y="3877056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2315718" y="3877056"/>
            <a:ext cx="1785366" cy="3200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3" name="Text 39"/>
          <p:cNvSpPr/>
          <p:nvPr/>
        </p:nvSpPr>
        <p:spPr>
          <a:xfrm>
            <a:off x="2315718" y="3877056"/>
            <a:ext cx="1785366" cy="32004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分析Agent</a:t>
            </a:r>
            <a:endParaRPr lang="en-US" sz="70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根因/趋势/关联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4055364" y="3877056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4174236" y="3877056"/>
            <a:ext cx="1785366" cy="3200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6" name="Text 42"/>
          <p:cNvSpPr/>
          <p:nvPr/>
        </p:nvSpPr>
        <p:spPr>
          <a:xfrm>
            <a:off x="4174236" y="3877056"/>
            <a:ext cx="1785366" cy="32004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决策Agent</a:t>
            </a:r>
            <a:endParaRPr lang="en-US" sz="70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处置/变更/容量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5913882" y="3877056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6032754" y="3877056"/>
            <a:ext cx="1785366" cy="3200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9" name="Text 45"/>
          <p:cNvSpPr/>
          <p:nvPr/>
        </p:nvSpPr>
        <p:spPr>
          <a:xfrm>
            <a:off x="6032754" y="3877056"/>
            <a:ext cx="1785366" cy="32004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执行Agent</a:t>
            </a:r>
            <a:endParaRPr lang="en-US" sz="70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安全沙箱执行</a:t>
            </a:r>
            <a:endParaRPr lang="en-US" sz="700" dirty="0"/>
          </a:p>
        </p:txBody>
      </p:sp>
      <p:sp>
        <p:nvSpPr>
          <p:cNvPr id="50" name="Shape 46"/>
          <p:cNvSpPr/>
          <p:nvPr/>
        </p:nvSpPr>
        <p:spPr>
          <a:xfrm>
            <a:off x="457200" y="4270248"/>
            <a:ext cx="7360920" cy="228600"/>
          </a:xfrm>
          <a:prstGeom prst="rect">
            <a:avLst/>
          </a:prstGeom>
          <a:solidFill>
            <a:srgbClr val="FF8F00">
              <a:alpha val="85000"/>
            </a:srgbClr>
          </a:solidFill>
          <a:ln/>
        </p:spPr>
      </p:sp>
      <p:sp>
        <p:nvSpPr>
          <p:cNvPr id="51" name="Text 47"/>
          <p:cNvSpPr/>
          <p:nvPr/>
        </p:nvSpPr>
        <p:spPr>
          <a:xfrm>
            <a:off x="457200" y="4270248"/>
            <a:ext cx="7360920" cy="2286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幻觉门控层 (Hallucination Gate) — 每层输出验证后才传递，阻止错误级联传播</a:t>
            </a:r>
            <a:endParaRPr lang="en-US" sz="650" dirty="0"/>
          </a:p>
        </p:txBody>
      </p:sp>
      <p:sp>
        <p:nvSpPr>
          <p:cNvPr id="52" name="Shape 48"/>
          <p:cNvSpPr/>
          <p:nvPr/>
        </p:nvSpPr>
        <p:spPr>
          <a:xfrm>
            <a:off x="457200" y="4544568"/>
            <a:ext cx="3643884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3" name="Text 49"/>
          <p:cNvSpPr/>
          <p:nvPr/>
        </p:nvSpPr>
        <p:spPr>
          <a:xfrm>
            <a:off x="457200" y="4544568"/>
            <a:ext cx="3643884" cy="5029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RAG知识库</a:t>
            </a:r>
            <a:endParaRPr lang="en-US" sz="700" dirty="0"/>
          </a:p>
          <a:p>
            <a:pPr indent="0" marL="0"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网络拓扑 | 告警库 | 历史工单 | 配置数据 | 运维规范</a:t>
            </a:r>
            <a:endParaRPr lang="en-US" sz="700" dirty="0"/>
          </a:p>
        </p:txBody>
      </p:sp>
      <p:sp>
        <p:nvSpPr>
          <p:cNvPr id="54" name="Shape 50"/>
          <p:cNvSpPr/>
          <p:nvPr/>
        </p:nvSpPr>
        <p:spPr>
          <a:xfrm>
            <a:off x="4174236" y="4544568"/>
            <a:ext cx="3643884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5" name="Text 51"/>
          <p:cNvSpPr/>
          <p:nvPr/>
        </p:nvSpPr>
        <p:spPr>
          <a:xfrm>
            <a:off x="4174236" y="4544568"/>
            <a:ext cx="3643884" cy="5029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自进化学习循环 (Closed Learning)</a:t>
            </a:r>
            <a:endParaRPr lang="en-US" sz="700" dirty="0"/>
          </a:p>
          <a:p>
            <a:pPr indent="0" marL="0"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经验提取 → 技能创建 → [人工审核] → 技能复用 → 效率提升</a:t>
            </a:r>
            <a:endParaRPr lang="en-US" sz="700" dirty="0"/>
          </a:p>
        </p:txBody>
      </p:sp>
      <p:sp>
        <p:nvSpPr>
          <p:cNvPr id="56" name="Shape 52"/>
          <p:cNvSpPr/>
          <p:nvPr/>
        </p:nvSpPr>
        <p:spPr>
          <a:xfrm>
            <a:off x="457200" y="5138928"/>
            <a:ext cx="1785366" cy="457200"/>
          </a:xfrm>
          <a:prstGeom prst="rect">
            <a:avLst/>
          </a:prstGeom>
          <a:solidFill>
            <a:srgbClr val="0D2A4A"/>
          </a:solidFill>
          <a:ln w="15240">
            <a:solidFill>
              <a:srgbClr val="E53935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57200" y="5138928"/>
            <a:ext cx="1785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确定性</a:t>
            </a:r>
            <a:endParaRPr lang="en-US" sz="70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宁可拒绝</a:t>
            </a:r>
            <a:endParaRPr lang="en-US" sz="70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不可幻觉</a:t>
            </a:r>
            <a:endParaRPr lang="en-US" sz="700" dirty="0"/>
          </a:p>
        </p:txBody>
      </p:sp>
      <p:sp>
        <p:nvSpPr>
          <p:cNvPr id="58" name="Shape 54"/>
          <p:cNvSpPr/>
          <p:nvPr/>
        </p:nvSpPr>
        <p:spPr>
          <a:xfrm>
            <a:off x="2315718" y="5138928"/>
            <a:ext cx="1785366" cy="457200"/>
          </a:xfrm>
          <a:prstGeom prst="rect">
            <a:avLst/>
          </a:prstGeom>
          <a:solidFill>
            <a:srgbClr val="0D2A4A"/>
          </a:solidFill>
          <a:ln w="15240">
            <a:solidFill>
              <a:srgbClr val="00BCD4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2315718" y="5138928"/>
            <a:ext cx="1785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自闭环</a:t>
            </a:r>
            <a:endParaRPr lang="en-US" sz="70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多Agent分工</a:t>
            </a:r>
            <a:endParaRPr lang="en-US" sz="70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门控验证</a:t>
            </a:r>
            <a:endParaRPr lang="en-US" sz="700" dirty="0"/>
          </a:p>
        </p:txBody>
      </p:sp>
      <p:sp>
        <p:nvSpPr>
          <p:cNvPr id="60" name="Shape 56"/>
          <p:cNvSpPr/>
          <p:nvPr/>
        </p:nvSpPr>
        <p:spPr>
          <a:xfrm>
            <a:off x="4174236" y="5138928"/>
            <a:ext cx="1785366" cy="457200"/>
          </a:xfrm>
          <a:prstGeom prst="rect">
            <a:avLst/>
          </a:prstGeom>
          <a:solidFill>
            <a:srgbClr val="0D2A4A"/>
          </a:solidFill>
          <a:ln w="15240">
            <a:solidFill>
              <a:srgbClr val="43A047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4174236" y="5138928"/>
            <a:ext cx="1785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自优化</a:t>
            </a:r>
            <a:endParaRPr lang="en-US" sz="70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经验学习</a:t>
            </a:r>
            <a:endParaRPr lang="en-US" sz="70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人工审核</a:t>
            </a:r>
            <a:endParaRPr lang="en-US" sz="700" dirty="0"/>
          </a:p>
        </p:txBody>
      </p:sp>
      <p:sp>
        <p:nvSpPr>
          <p:cNvPr id="62" name="Shape 58"/>
          <p:cNvSpPr/>
          <p:nvPr/>
        </p:nvSpPr>
        <p:spPr>
          <a:xfrm>
            <a:off x="6032754" y="5138928"/>
            <a:ext cx="1785366" cy="457200"/>
          </a:xfrm>
          <a:prstGeom prst="rect">
            <a:avLst/>
          </a:prstGeom>
          <a:solidFill>
            <a:srgbClr val="0D2A4A"/>
          </a:solidFill>
          <a:ln w="15240">
            <a:solidFill>
              <a:srgbClr val="1976D2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6032754" y="5138928"/>
            <a:ext cx="1785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高稳定</a:t>
            </a:r>
            <a:endParaRPr lang="en-US" sz="70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资源隔离</a:t>
            </a:r>
            <a:endParaRPr lang="en-US" sz="70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分层防御</a:t>
            </a:r>
            <a:endParaRPr lang="en-US" sz="700" dirty="0"/>
          </a:p>
        </p:txBody>
      </p:sp>
      <p:sp>
        <p:nvSpPr>
          <p:cNvPr id="64" name="Shape 60"/>
          <p:cNvSpPr/>
          <p:nvPr/>
        </p:nvSpPr>
        <p:spPr>
          <a:xfrm>
            <a:off x="8138160" y="3474720"/>
            <a:ext cx="3794760" cy="27432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8138160" y="3474720"/>
            <a:ext cx="379476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6" name="Text 62"/>
          <p:cNvSpPr/>
          <p:nvPr/>
        </p:nvSpPr>
        <p:spPr>
          <a:xfrm>
            <a:off x="8275320" y="34747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四大启示与行动建议</a:t>
            </a:r>
            <a:endParaRPr lang="en-US" sz="1000" dirty="0"/>
          </a:p>
        </p:txBody>
      </p:sp>
      <p:sp>
        <p:nvSpPr>
          <p:cNvPr id="67" name="Shape 63"/>
          <p:cNvSpPr/>
          <p:nvPr/>
        </p:nvSpPr>
        <p:spPr>
          <a:xfrm>
            <a:off x="8229600" y="3822192"/>
            <a:ext cx="3611880" cy="347472"/>
          </a:xfrm>
          <a:prstGeom prst="rect">
            <a:avLst/>
          </a:prstGeom>
          <a:solidFill>
            <a:srgbClr val="0D2A4A"/>
          </a:solidFill>
          <a:ln/>
        </p:spPr>
      </p:sp>
      <p:sp>
        <p:nvSpPr>
          <p:cNvPr id="68" name="Shape 64"/>
          <p:cNvSpPr/>
          <p:nvPr/>
        </p:nvSpPr>
        <p:spPr>
          <a:xfrm>
            <a:off x="8229600" y="3822192"/>
            <a:ext cx="54864" cy="34747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9" name="Text 65"/>
          <p:cNvSpPr/>
          <p:nvPr/>
        </p:nvSpPr>
        <p:spPr>
          <a:xfrm>
            <a:off x="8366760" y="38221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确定性优先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优雅拒绝 &gt; 编造答案，3-8%拒绝率换0%幻觉</a:t>
            </a:r>
            <a:endParaRPr lang="en-US" sz="750" dirty="0"/>
          </a:p>
        </p:txBody>
      </p:sp>
      <p:sp>
        <p:nvSpPr>
          <p:cNvPr id="70" name="Shape 66"/>
          <p:cNvSpPr/>
          <p:nvPr/>
        </p:nvSpPr>
        <p:spPr>
          <a:xfrm>
            <a:off x="8229600" y="4215384"/>
            <a:ext cx="3611880" cy="347472"/>
          </a:xfrm>
          <a:prstGeom prst="rect">
            <a:avLst/>
          </a:prstGeom>
          <a:solidFill>
            <a:srgbClr val="0D2A4A"/>
          </a:solidFill>
          <a:ln/>
        </p:spPr>
      </p:sp>
      <p:sp>
        <p:nvSpPr>
          <p:cNvPr id="71" name="Shape 67"/>
          <p:cNvSpPr/>
          <p:nvPr/>
        </p:nvSpPr>
        <p:spPr>
          <a:xfrm>
            <a:off x="8229600" y="4215384"/>
            <a:ext cx="54864" cy="3474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2" name="Text 68"/>
          <p:cNvSpPr/>
          <p:nvPr/>
        </p:nvSpPr>
        <p:spPr>
          <a:xfrm>
            <a:off x="8366760" y="42153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自闭环控制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感知→分析→决策→执行→反馈，每步门控验证</a:t>
            </a:r>
            <a:endParaRPr lang="en-US" sz="750" dirty="0"/>
          </a:p>
        </p:txBody>
      </p:sp>
      <p:sp>
        <p:nvSpPr>
          <p:cNvPr id="73" name="Shape 69"/>
          <p:cNvSpPr/>
          <p:nvPr/>
        </p:nvSpPr>
        <p:spPr>
          <a:xfrm>
            <a:off x="8229600" y="4608576"/>
            <a:ext cx="3611880" cy="347472"/>
          </a:xfrm>
          <a:prstGeom prst="rect">
            <a:avLst/>
          </a:prstGeom>
          <a:solidFill>
            <a:srgbClr val="0D2A4A"/>
          </a:solidFill>
          <a:ln/>
        </p:spPr>
      </p:sp>
      <p:sp>
        <p:nvSpPr>
          <p:cNvPr id="74" name="Shape 70"/>
          <p:cNvSpPr/>
          <p:nvPr/>
        </p:nvSpPr>
        <p:spPr>
          <a:xfrm>
            <a:off x="8229600" y="4608576"/>
            <a:ext cx="54864" cy="34747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75" name="Text 71"/>
          <p:cNvSpPr/>
          <p:nvPr/>
        </p:nvSpPr>
        <p:spPr>
          <a:xfrm>
            <a:off x="8366760" y="46085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自优化进化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Learning Loop + 新技能人工审核后上线</a:t>
            </a:r>
            <a:endParaRPr lang="en-US" sz="750" dirty="0"/>
          </a:p>
        </p:txBody>
      </p:sp>
      <p:sp>
        <p:nvSpPr>
          <p:cNvPr id="76" name="Shape 72"/>
          <p:cNvSpPr/>
          <p:nvPr/>
        </p:nvSpPr>
        <p:spPr>
          <a:xfrm>
            <a:off x="8229600" y="5001768"/>
            <a:ext cx="3611880" cy="347472"/>
          </a:xfrm>
          <a:prstGeom prst="rect">
            <a:avLst/>
          </a:prstGeom>
          <a:solidFill>
            <a:srgbClr val="0D2A4A"/>
          </a:solidFill>
          <a:ln/>
        </p:spPr>
      </p:sp>
      <p:sp>
        <p:nvSpPr>
          <p:cNvPr id="77" name="Shape 73"/>
          <p:cNvSpPr/>
          <p:nvPr/>
        </p:nvSpPr>
        <p:spPr>
          <a:xfrm>
            <a:off x="8229600" y="5001768"/>
            <a:ext cx="54864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78" name="Text 74"/>
          <p:cNvSpPr/>
          <p:nvPr/>
        </p:nvSpPr>
        <p:spPr>
          <a:xfrm>
            <a:off x="8366760" y="50017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高稳定防线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子Agent隔离 + 多模型Failover + SIEM监控</a:t>
            </a:r>
            <a:endParaRPr lang="en-US" sz="750" dirty="0"/>
          </a:p>
        </p:txBody>
      </p:sp>
      <p:sp>
        <p:nvSpPr>
          <p:cNvPr id="79" name="Text 75"/>
          <p:cNvSpPr/>
          <p:nvPr/>
        </p:nvSpPr>
        <p:spPr>
          <a:xfrm>
            <a:off x="8275320" y="544068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模型选择矩阵</a:t>
            </a:r>
            <a:endParaRPr lang="en-US" sz="7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5641848"/>
          <a:ext cx="3520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场景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推荐模型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事实查询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43A0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4.7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故障推理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FF8F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GPT-5.5+门控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高频巡检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43A0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GPT-5.4 Mini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12700" marB="1270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</a:tbl>
          </a:graphicData>
        </a:graphic>
      </p:graphicFrame>
      <p:sp>
        <p:nvSpPr>
          <p:cNvPr id="81" name="Shape 7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2" name="Text 77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数据来源: Vectara HHEM | arXiv:2603.07728 | 华为AgenticCore (MWC2026) | NousResearch Hermes Agent | GitHub OpenClaw | Towards AI | Suprmind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2026上半年AI技术趋势与云核心网高稳智能体启示</dc:title>
  <dc:subject>PptxGenJS Presentation</dc:subject>
  <dc:creator>PptxGenJS</dc:creator>
  <cp:lastModifiedBy>PptxGenJS</cp:lastModifiedBy>
  <cp:revision>1</cp:revision>
  <dcterms:created xsi:type="dcterms:W3CDTF">2026-06-05T04:01:01Z</dcterms:created>
  <dcterms:modified xsi:type="dcterms:W3CDTF">2026-06-05T04:01:01Z</dcterms:modified>
</cp:coreProperties>
</file>