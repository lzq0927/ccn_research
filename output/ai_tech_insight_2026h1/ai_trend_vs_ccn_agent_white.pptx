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2026上半年 AI技术趋势与云核心网高稳智能体启示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从“陪聊”到“干活”的Agent元年  |  幻觉消除技术突破  |  产业落地加速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74904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07592"/>
            <a:ext cx="54864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07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2026 H1 AI趋势总览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Agent元年：从对话式AI → 行动式Agent范式转移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247K★爆火，Hermes 2240亿token/天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华为MWC2026发布AgenticCore，核心网+Agent商用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L4自智网络进入规模化部署阶段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趋势对比</a:t>
            </a:r>
            <a:endParaRPr lang="en-US" sz="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42616"/>
          <a:ext cx="33832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交互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问答对话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自主执行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部署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云端SaaS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本地/私有化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焦点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模型能力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安全/可靠性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389120" y="1234440"/>
            <a:ext cx="374904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307592"/>
            <a:ext cx="54864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07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OpenClaw vs Hermes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0" y="16642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0" y="18653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247K★ | 奥地利 | Hub-Spoke四层架构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安全：CVE-2026-25253 (CVSS 8.8)，ClawHub 12%恶意技能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幻觉控制：无内置机制 ⚠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572000" y="2468880"/>
            <a:ext cx="33832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4572000" y="25328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(NousResearch)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0" y="27340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#1 | 多模型协作 + 子Agent并行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核心：幻觉门控(Hallucination Gate)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子Agent隔离 + 目标锁定 + 自进化学习循环 ✓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321040" y="1234440"/>
            <a:ext cx="374904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12480" y="1307592"/>
            <a:ext cx="54864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2" name="Text 19"/>
          <p:cNvSpPr/>
          <p:nvPr/>
        </p:nvSpPr>
        <p:spPr>
          <a:xfrm>
            <a:off x="8549640" y="1307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幻觉消除技术栈与基准数据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503920" y="16642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Vectara HHEM 幻觉率基准 (2026中)</a:t>
            </a:r>
            <a:endParaRPr lang="en-US" sz="7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0" y="1865376"/>
          <a:ext cx="3383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幻觉率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适用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4个前沿模型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受限领域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GPT-5.4 Mini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高频巡检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~9.3%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推理/编码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低*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事实查询★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8503920" y="2898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六层幻觉防御栈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8549640" y="3698748"/>
            <a:ext cx="320040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3"/>
          <p:cNvSpPr/>
          <p:nvPr/>
        </p:nvSpPr>
        <p:spPr>
          <a:xfrm>
            <a:off x="8549640" y="3698748"/>
            <a:ext cx="3200400" cy="1097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人机确认</a:t>
            </a:r>
            <a:endParaRPr lang="en-US" sz="550" dirty="0"/>
          </a:p>
        </p:txBody>
      </p:sp>
      <p:sp>
        <p:nvSpPr>
          <p:cNvPr id="28" name="Shape 24"/>
          <p:cNvSpPr/>
          <p:nvPr/>
        </p:nvSpPr>
        <p:spPr>
          <a:xfrm>
            <a:off x="8549640" y="3575304"/>
            <a:ext cx="32004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5"/>
          <p:cNvSpPr/>
          <p:nvPr/>
        </p:nvSpPr>
        <p:spPr>
          <a:xfrm>
            <a:off x="8549640" y="3575304"/>
            <a:ext cx="3200400" cy="1097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优雅拒绝</a:t>
            </a:r>
            <a:endParaRPr lang="en-US" sz="550" dirty="0"/>
          </a:p>
        </p:txBody>
      </p:sp>
      <p:sp>
        <p:nvSpPr>
          <p:cNvPr id="30" name="Shape 26"/>
          <p:cNvSpPr/>
          <p:nvPr/>
        </p:nvSpPr>
        <p:spPr>
          <a:xfrm>
            <a:off x="8549640" y="3451860"/>
            <a:ext cx="32004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1" name="Text 27"/>
          <p:cNvSpPr/>
          <p:nvPr/>
        </p:nvSpPr>
        <p:spPr>
          <a:xfrm>
            <a:off x="8549640" y="3451860"/>
            <a:ext cx="3200400" cy="1097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幻觉门控</a:t>
            </a:r>
            <a:endParaRPr lang="en-US" sz="550" dirty="0"/>
          </a:p>
        </p:txBody>
      </p:sp>
      <p:sp>
        <p:nvSpPr>
          <p:cNvPr id="32" name="Shape 28"/>
          <p:cNvSpPr/>
          <p:nvPr/>
        </p:nvSpPr>
        <p:spPr>
          <a:xfrm>
            <a:off x="8549640" y="3328416"/>
            <a:ext cx="32004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29"/>
          <p:cNvSpPr/>
          <p:nvPr/>
        </p:nvSpPr>
        <p:spPr>
          <a:xfrm>
            <a:off x="8549640" y="3328416"/>
            <a:ext cx="3200400" cy="1097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多Agent分工</a:t>
            </a:r>
            <a:endParaRPr lang="en-US" sz="550" dirty="0"/>
          </a:p>
        </p:txBody>
      </p:sp>
      <p:sp>
        <p:nvSpPr>
          <p:cNvPr id="34" name="Shape 30"/>
          <p:cNvSpPr/>
          <p:nvPr/>
        </p:nvSpPr>
        <p:spPr>
          <a:xfrm>
            <a:off x="8549640" y="3204972"/>
            <a:ext cx="32004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1"/>
          <p:cNvSpPr/>
          <p:nvPr/>
        </p:nvSpPr>
        <p:spPr>
          <a:xfrm>
            <a:off x="8549640" y="3204972"/>
            <a:ext cx="3200400" cy="1097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RAG知识落地</a:t>
            </a:r>
            <a:endParaRPr lang="en-US" sz="550" dirty="0"/>
          </a:p>
        </p:txBody>
      </p:sp>
      <p:sp>
        <p:nvSpPr>
          <p:cNvPr id="36" name="Shape 32"/>
          <p:cNvSpPr/>
          <p:nvPr/>
        </p:nvSpPr>
        <p:spPr>
          <a:xfrm>
            <a:off x="8549640" y="3081528"/>
            <a:ext cx="32004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3"/>
          <p:cNvSpPr/>
          <p:nvPr/>
        </p:nvSpPr>
        <p:spPr>
          <a:xfrm>
            <a:off x="8549640" y="3081528"/>
            <a:ext cx="3200400" cy="1097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低幻觉模型</a:t>
            </a:r>
            <a:endParaRPr lang="en-US" sz="550" dirty="0"/>
          </a:p>
        </p:txBody>
      </p:sp>
      <p:sp>
        <p:nvSpPr>
          <p:cNvPr id="38" name="Shape 34"/>
          <p:cNvSpPr/>
          <p:nvPr/>
        </p:nvSpPr>
        <p:spPr>
          <a:xfrm>
            <a:off x="457200" y="3703320"/>
            <a:ext cx="777240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548640" y="3776472"/>
            <a:ext cx="54864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0" name="Text 36"/>
          <p:cNvSpPr/>
          <p:nvPr/>
        </p:nvSpPr>
        <p:spPr>
          <a:xfrm>
            <a:off x="685800" y="37764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 云核心网高稳智能体推荐架构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40080" y="4133088"/>
            <a:ext cx="1783080" cy="34747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2" name="Text 38"/>
          <p:cNvSpPr/>
          <p:nvPr/>
        </p:nvSpPr>
        <p:spPr>
          <a:xfrm>
            <a:off x="640080" y="41330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感知Agent</a:t>
            </a:r>
            <a:endParaRPr lang="en-US" sz="8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告警/监控/拓扑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2377440" y="413308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2514600" y="4133088"/>
            <a:ext cx="1783080" cy="3474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5" name="Text 41"/>
          <p:cNvSpPr/>
          <p:nvPr/>
        </p:nvSpPr>
        <p:spPr>
          <a:xfrm>
            <a:off x="2514600" y="41330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分析Agent</a:t>
            </a:r>
            <a:endParaRPr lang="en-US" sz="8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根因/趋势/关联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4251960" y="413308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4389120" y="4133088"/>
            <a:ext cx="178308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4"/>
          <p:cNvSpPr/>
          <p:nvPr/>
        </p:nvSpPr>
        <p:spPr>
          <a:xfrm>
            <a:off x="4389120" y="41330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决策Agent</a:t>
            </a:r>
            <a:endParaRPr lang="en-US" sz="8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处置/变更/容量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6126480" y="413308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6"/>
          <p:cNvSpPr/>
          <p:nvPr/>
        </p:nvSpPr>
        <p:spPr>
          <a:xfrm>
            <a:off x="6263640" y="4133088"/>
            <a:ext cx="178308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1" name="Text 47"/>
          <p:cNvSpPr/>
          <p:nvPr/>
        </p:nvSpPr>
        <p:spPr>
          <a:xfrm>
            <a:off x="6263640" y="41330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执行Agent</a:t>
            </a:r>
            <a:endParaRPr lang="en-US" sz="8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安全沙箱执行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640080" y="4572000"/>
            <a:ext cx="7406640" cy="22860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40080" y="4572000"/>
            <a:ext cx="7406640" cy="2286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幻觉门控层 (Hallucination Gate) — 每层输出验证后才传递，阻止错误级联传播</a:t>
            </a:r>
            <a:endParaRPr lang="en-US" sz="700" dirty="0"/>
          </a:p>
        </p:txBody>
      </p:sp>
      <p:sp>
        <p:nvSpPr>
          <p:cNvPr id="54" name="Shape 50"/>
          <p:cNvSpPr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solidFill>
            <a:srgbClr val="E8ECF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RAG知识库</a:t>
            </a:r>
            <a:endParaRPr lang="en-US" sz="75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网络拓扑 | 告警库 | 历史工单 | 配置数据 | 运维规范</a:t>
            </a:r>
            <a:endParaRPr lang="en-US" sz="750" dirty="0"/>
          </a:p>
        </p:txBody>
      </p:sp>
      <p:sp>
        <p:nvSpPr>
          <p:cNvPr id="56" name="Shape 52"/>
          <p:cNvSpPr/>
          <p:nvPr/>
        </p:nvSpPr>
        <p:spPr>
          <a:xfrm>
            <a:off x="4389120" y="4892040"/>
            <a:ext cx="3657600" cy="457200"/>
          </a:xfrm>
          <a:prstGeom prst="rect">
            <a:avLst/>
          </a:prstGeom>
          <a:solidFill>
            <a:srgbClr val="E8ECF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389120" y="4892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自进化学习循环 (Closed Learning)</a:t>
            </a:r>
            <a:endParaRPr lang="en-US" sz="75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经验提取 → 技能创建 → [人工审核] → 技能复用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640080" y="5440680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40080" y="5440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宁可拒绝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不可幻觉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2514600" y="5440680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2514600" y="5440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自闭环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多Agent分工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门控验证</a:t>
            </a:r>
            <a:endParaRPr lang="en-US" sz="750" dirty="0"/>
          </a:p>
        </p:txBody>
      </p:sp>
      <p:sp>
        <p:nvSpPr>
          <p:cNvPr id="62" name="Shape 58"/>
          <p:cNvSpPr/>
          <p:nvPr/>
        </p:nvSpPr>
        <p:spPr>
          <a:xfrm>
            <a:off x="4389120" y="5440680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389120" y="5440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自优化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经验学习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人工审核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6263640" y="5440680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263640" y="5440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高稳定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资源隔离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分层防御</a:t>
            </a:r>
            <a:endParaRPr lang="en-US" sz="750" dirty="0"/>
          </a:p>
        </p:txBody>
      </p:sp>
      <p:sp>
        <p:nvSpPr>
          <p:cNvPr id="66" name="Shape 62"/>
          <p:cNvSpPr/>
          <p:nvPr/>
        </p:nvSpPr>
        <p:spPr>
          <a:xfrm>
            <a:off x="8321040" y="3703320"/>
            <a:ext cx="374904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7" name="Shape 63"/>
          <p:cNvSpPr/>
          <p:nvPr/>
        </p:nvSpPr>
        <p:spPr>
          <a:xfrm>
            <a:off x="8412480" y="3776472"/>
            <a:ext cx="54864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8" name="Text 64"/>
          <p:cNvSpPr/>
          <p:nvPr/>
        </p:nvSpPr>
        <p:spPr>
          <a:xfrm>
            <a:off x="8549640" y="3776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 四大启示与行动建议</a:t>
            </a:r>
            <a:endParaRPr lang="en-US" sz="1000" dirty="0"/>
          </a:p>
        </p:txBody>
      </p:sp>
      <p:sp>
        <p:nvSpPr>
          <p:cNvPr id="69" name="Shape 65"/>
          <p:cNvSpPr/>
          <p:nvPr/>
        </p:nvSpPr>
        <p:spPr>
          <a:xfrm>
            <a:off x="8458200" y="4133088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458200" y="4133088"/>
            <a:ext cx="4572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1" name="Text 67"/>
          <p:cNvSpPr/>
          <p:nvPr/>
        </p:nvSpPr>
        <p:spPr>
          <a:xfrm>
            <a:off x="8595360" y="41330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确定性优先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优雅拒绝 &gt; 编造答案，3-8%拒绝率换0%幻觉</a:t>
            </a:r>
            <a:endParaRPr lang="en-US" sz="750" dirty="0"/>
          </a:p>
        </p:txBody>
      </p:sp>
      <p:sp>
        <p:nvSpPr>
          <p:cNvPr id="72" name="Shape 68"/>
          <p:cNvSpPr/>
          <p:nvPr/>
        </p:nvSpPr>
        <p:spPr>
          <a:xfrm>
            <a:off x="8458200" y="4535424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8458200" y="4535424"/>
            <a:ext cx="4572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4" name="Text 70"/>
          <p:cNvSpPr/>
          <p:nvPr/>
        </p:nvSpPr>
        <p:spPr>
          <a:xfrm>
            <a:off x="8595360" y="45354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自闭环控制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感知→分析→决策→执行→反馈，每步门控验证</a:t>
            </a:r>
            <a:endParaRPr lang="en-US" sz="750" dirty="0"/>
          </a:p>
        </p:txBody>
      </p:sp>
      <p:sp>
        <p:nvSpPr>
          <p:cNvPr id="75" name="Shape 71"/>
          <p:cNvSpPr/>
          <p:nvPr/>
        </p:nvSpPr>
        <p:spPr>
          <a:xfrm>
            <a:off x="8458200" y="4937760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8458200" y="4937760"/>
            <a:ext cx="4572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7" name="Text 73"/>
          <p:cNvSpPr/>
          <p:nvPr/>
        </p:nvSpPr>
        <p:spPr>
          <a:xfrm>
            <a:off x="8595360" y="4937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自优化进化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Learning Loop + 新技能人工审核后上线</a:t>
            </a:r>
            <a:endParaRPr lang="en-US" sz="750" dirty="0"/>
          </a:p>
        </p:txBody>
      </p:sp>
      <p:sp>
        <p:nvSpPr>
          <p:cNvPr id="78" name="Shape 74"/>
          <p:cNvSpPr/>
          <p:nvPr/>
        </p:nvSpPr>
        <p:spPr>
          <a:xfrm>
            <a:off x="8458200" y="5340096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8458200" y="5340096"/>
            <a:ext cx="4572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0" name="Text 76"/>
          <p:cNvSpPr/>
          <p:nvPr/>
        </p:nvSpPr>
        <p:spPr>
          <a:xfrm>
            <a:off x="8595360" y="5340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高稳定防线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子Agent隔离 + 多模型Failover + SIEM监控</a:t>
            </a:r>
            <a:endParaRPr lang="en-US" sz="750" dirty="0"/>
          </a:p>
        </p:txBody>
      </p:sp>
      <p:sp>
        <p:nvSpPr>
          <p:cNvPr id="81" name="Text 77"/>
          <p:cNvSpPr/>
          <p:nvPr/>
        </p:nvSpPr>
        <p:spPr>
          <a:xfrm>
            <a:off x="8503920" y="58155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模型选择矩阵</a:t>
            </a:r>
            <a:endParaRPr lang="en-US" sz="7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0" y="5998464"/>
          <a:ext cx="3383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场景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推荐模型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事实查询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故障推理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GPT-5.5+门控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高频巡检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GPT-5.4 Mini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3" name="Shape 78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数据来源: Vectara HHEM | arXiv:2603.07728 | 华为AgenticCore (MWC2026) | NousResearch Hermes Agent | GitHub OpenClaw | Towards AI | Suprmind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2026上半年AI技术趋势与云核心网高稳智能体启示</dc:title>
  <dc:subject>PptxGenJS Presentation</dc:subject>
  <dc:creator>PptxGenJS</dc:creator>
  <cp:lastModifiedBy>PptxGenJS</cp:lastModifiedBy>
  <cp:revision>1</cp:revision>
  <dcterms:created xsi:type="dcterms:W3CDTF">2026-06-05T04:11:38Z</dcterms:created>
  <dcterms:modified xsi:type="dcterms:W3CDTF">2026-06-05T04:11:38Z</dcterms:modified>
</cp:coreProperties>
</file>