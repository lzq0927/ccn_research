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2286000" cy="36576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74720" y="292608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35040" y="2926080"/>
            <a:ext cx="22860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59" y="2926080"/>
            <a:ext cx="2286000" cy="36576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云核心网可靠性技术洞察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Microsoft YaHei"/>
              </a:defRPr>
            </a:pPr>
            <a:r>
              <a:t>跨界借鉴与前沿技术追踪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6F51"/>
                </a:solidFill>
                <a:latin typeface="Microsoft YaHei"/>
              </a:defRPr>
            </a:pPr>
            <a:r>
              <a:t>Track 1: 核电异构架构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Track 2: 云Grid架构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2004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Track 3: AI for 可靠性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59" y="32004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C623"/>
                </a:solidFill>
                <a:latin typeface="Microsoft YaHei"/>
              </a:defRPr>
            </a:pPr>
            <a:r>
              <a:t>Track 4: 软件可靠性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基于CCF A/B类学术文献 · 行业标准规范 · 头部厂商技术报告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4份独立洞察报告 + 1份综合分析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99AA"/>
                </a:solidFill>
                <a:latin typeface="Microsoft YaHei"/>
              </a:defRPr>
            </a:pPr>
            <a:r>
              <a:t>180+ 引用文献 | 195KB+ 深度内容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洞察全景图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四方向并行研究 → 综合分析 → 可操作建议</a:t>
            </a:r>
          </a:p>
        </p:txBody>
      </p:sp>
      <p:sp>
        <p:nvSpPr>
          <p:cNvPr id="5" name="Oval 4"/>
          <p:cNvSpPr/>
          <p:nvPr/>
        </p:nvSpPr>
        <p:spPr>
          <a:xfrm>
            <a:off x="4937760" y="2560320"/>
            <a:ext cx="1828800" cy="1828800"/>
          </a:xfrm>
          <a:prstGeom prst="ellipse">
            <a:avLst/>
          </a:prstGeom>
          <a:solidFill>
            <a:srgbClr val="243B63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云核心网</a:t>
            </a:r>
            <a:br/>
            <a:r>
              <a:t>可靠性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86F51"/>
                </a:solidFill>
                <a:latin typeface="Microsoft YaHei"/>
              </a:defRPr>
            </a:pPr>
            <a:r>
              <a:t>核电异构架构</a:t>
            </a:r>
          </a:p>
          <a:p>
            <a:pPr algn="ctr"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纵深防御·异构冗余</a:t>
            </a:r>
            <a:br/>
            <a:r>
              <a:t>CCF防控·SIS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云Grid架构</a:t>
            </a:r>
          </a:p>
          <a:p>
            <a:pPr algn="ctr"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华为云·AWS·Google</a:t>
            </a:r>
            <a:br/>
            <a:r>
              <a:t>Cell-Based·多活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3891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AI for 可靠性</a:t>
            </a:r>
          </a:p>
          <a:p>
            <a:pPr algn="ctr"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异常检测·根因定位</a:t>
            </a:r>
            <a:br/>
            <a:r>
              <a:t>预测·自愈·LLM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38912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C623"/>
                </a:solidFill>
                <a:latin typeface="Microsoft YaHei"/>
              </a:defRPr>
            </a:pPr>
            <a:r>
              <a:t>软件可靠性</a:t>
            </a:r>
          </a:p>
          <a:p>
            <a:pPr algn="ctr"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Fuzzing·故障定位</a:t>
            </a:r>
            <a:br/>
            <a:r>
              <a:t>自动修复·DevOps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85216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核心结论：核电方法论 + 云Grid工程实践 + AI全链路赋能 → 核心网可用性从99.99%提升至99.999%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面向高层决策者的核心发现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331720" cy="411480"/>
          </a:xfrm>
          <a:prstGeom prst="roundRect">
            <a:avLst>
              <a:gd name="adj" fmla="val 5000"/>
            </a:avLst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核电异构架构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纵深防御五层架构 + 异构冗余（β从0.3→0.01）</a:t>
            </a:r>
            <a:br/>
            <a:r>
              <a:t>堆芯损坏频率CDF &lt; 10⁻⁷/堆年</a:t>
            </a:r>
            <a:br/>
            <a:r>
              <a:t>"能动+非能动"设计可直接映射双栈/多栈容灾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8016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331720" cy="41148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云Grid架构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华为云Super AZ + UniformLive实现秒级无感切换</a:t>
            </a:r>
            <a:br/>
            <a:r>
              <a:t>AWS/Google对标：Cell-Based → Region级故障透明</a:t>
            </a:r>
            <a:br/>
            <a:r>
              <a:t>Grid化部署策略：中心Cell+区域Cell+边缘Cell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31720" cy="41148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for 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"感知-诊断-预测-自愈"闭环已成熟</a:t>
            </a:r>
            <a:br/>
            <a:r>
              <a:t>AIOps论文2020-2024增长300%+</a:t>
            </a:r>
            <a:br/>
            <a:r>
              <a:t>LLM重塑运维：日志分析、告警理解、修复建议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280160"/>
            <a:ext cx="2697480" cy="347472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89720" y="1417320"/>
            <a:ext cx="2331720" cy="411480"/>
          </a:xfrm>
          <a:prstGeom prst="roundRect">
            <a:avLst>
              <a:gd name="adj" fmla="val 5000"/>
            </a:avLst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软件可靠性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40"/>
            <a:ext cx="2423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GNN/因果推断根因定位 + LLM免测试故障定位</a:t>
            </a:r>
            <a:br/>
            <a:r>
              <a:t>RepairAgent(ICSE'25)自动程序修复</a:t>
            </a:r>
            <a:br/>
            <a:r>
              <a:t>5GC-Fuzz(CoreCrisis)专项协议Fuzzing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量化目标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406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可用性 99.999%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4406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MTTD &lt; 30秒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4406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MTTR &lt; 5分钟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4406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Beta因子 &lt; 0.01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54406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AI辅助定位率 &gt;95%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Track 1: 核电异构架构洞察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SIL 4级可靠性 · 纵深防御 · 异构冗余 · 共因故障防控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1"/>
                </a:solidFill>
                <a:latin typeface="Microsoft YaHei"/>
              </a:defRPr>
            </a:pPr>
            <a:r>
              <a:t>核电安全体系核心要素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● 安全完整性等级SIL 1-4（IEC 61508）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● 纵深防御五层架构（IAEA SSR-2/1）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● 堆芯损坏频率CDF &lt; 10⁻⁷/堆年（AP1000/EPR/ABWR）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● 异构冗余：能动+非能动（华龙一号）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● 2oo4表决逻辑（EPR四通道保护系统）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● 多样性分类5类（NUREG/CR-6303）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1"/>
                </a:solidFill>
                <a:latin typeface="Microsoft YaHei"/>
              </a:defRPr>
            </a:pPr>
            <a:r>
              <a:t>纵深防御五层架构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第5层: 全局应急 — 场外应急响应、公众防护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423160"/>
            <a:ext cx="4754880" cy="640080"/>
          </a:xfrm>
          <a:prstGeom prst="roundRect">
            <a:avLst>
              <a:gd name="adj" fmla="val 5000"/>
            </a:avLst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第4层: 严重事故缓解 — 严重事故管理导则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200400"/>
            <a:ext cx="4480560" cy="640080"/>
          </a:xfrm>
          <a:prstGeom prst="roundRect">
            <a:avLst>
              <a:gd name="adj" fmla="val 5000"/>
            </a:avLst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第3层: 设计基准事故控制 — 反应堆保护系统、ESF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399" y="3977639"/>
            <a:ext cx="4206240" cy="64008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第2层: 偏差控制 — 限制系统、自动控制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75488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第1层: 预防 — 高质量设计、保守裕量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IAEA SSR-2/1 Safety of Nuclear Power Plants: Design (2016), Fig. 1 — Defence in depth concept; NUREG/CR-6303 Diversity Strategies for Nuclear I&amp;C Systems (2009)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对云核心网启示: 纵深防御 → 五层故障防线 | 异构冗余 → VM+K8s双栈容灾 | Beta因子模型 → CCF量化评估(β: 0.3→0.01)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共因故障(CCF)度量模型与防控策略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Beta因子·MGL·PDS·Alpha因子 — 量化防控的科学基础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1"/>
                </a:solidFill>
                <a:latin typeface="Microsoft YaHei"/>
              </a:defRPr>
            </a:pPr>
            <a:r>
              <a:t>CCF度量模型对比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Beta因子模型 — 最简单最常用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公式: Q_ccf = β × λ  |  特点: β≈0.1-0.2(数字系统)  |  参考: NUREG/CR-4780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MGL模型 — 参数更多更精细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公式: β, γ, δ 多参数  |  特点: 可建模3+组件CCF  |  参考: Mosleh 1991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476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PDS模型 — 按故障模式分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公式: 按暴露时间分类  |  特点: 适合周期性测试  |  参考: Hokstad 2004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Alpha因子模型 — 按失效组合分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公式: α_k (k个失效概率)  |  特点: 适合MooN表决  |  参考: NUREG/CR-5485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F51"/>
                </a:solidFill>
                <a:latin typeface="Microsoft YaHei"/>
              </a:defRPr>
            </a:pPr>
            <a:r>
              <a:t>Beta因子递减路径（云核心网映射）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9164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0000"/>
                </a:solidFill>
                <a:latin typeface="Microsoft YaHei"/>
              </a:defRPr>
            </a:pPr>
            <a:r>
              <a:t>未防控  β ≈ 0.30</a:t>
            </a:r>
          </a:p>
          <a:p>
            <a:pPr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同构冗余，共因故障概率高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2880360"/>
            <a:ext cx="457200" cy="365760"/>
          </a:xfrm>
          <a:prstGeom prst="rightArrow">
            <a:avLst/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274320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CD8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D853F"/>
                </a:solidFill>
                <a:latin typeface="Microsoft YaHei"/>
              </a:defRPr>
            </a:pPr>
            <a:r>
              <a:t>镜像多样性  β ≈ 0.15</a:t>
            </a:r>
          </a:p>
          <a:p>
            <a:pPr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多版本镜像并行部署，↓50%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217920" y="3931920"/>
            <a:ext cx="457200" cy="365760"/>
          </a:xfrm>
          <a:prstGeom prst="rightArrow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379476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8B57"/>
                </a:solidFill>
                <a:latin typeface="Microsoft YaHei"/>
              </a:defRPr>
            </a:pPr>
            <a:r>
              <a:t>技术栈异构  β ≈ 0.05</a:t>
            </a:r>
          </a:p>
          <a:p>
            <a:pPr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VM + K8s双栈，↓83%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17920" y="4983480"/>
            <a:ext cx="457200" cy="365760"/>
          </a:xfrm>
          <a:prstGeom prst="rightArrow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484632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8B22"/>
                </a:solidFill>
                <a:latin typeface="Microsoft YaHei"/>
              </a:defRPr>
            </a:pPr>
            <a:r>
              <a:t>多云部署  β ≈ 0.01</a:t>
            </a:r>
          </a:p>
          <a:p>
            <a:pPr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跨云/混合云，↓97%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Mosleh et al., Procedures for Treating Common Cause Failures, NUREG/CR-4780 (1989); IEC 61508:2010 Functional Safety, Part 6; 概念图参考: IAEA Safety Reports Series No.90, Fig.5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Track 2: 云Grid架构洞察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从多活到Grid · Cell-Based自治 · 秒级无感切换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架构演进路线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B6B6B"/>
                </a:solidFill>
                <a:latin typeface="Microsoft YaHei"/>
              </a:defRPr>
            </a:pPr>
            <a:r>
              <a:t>主备模式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分钟~小时级RTO</a:t>
            </a:r>
            <a:br/>
            <a:r>
              <a:t>资源闲置</a:t>
            </a:r>
          </a:p>
        </p:txBody>
      </p:sp>
      <p:sp>
        <p:nvSpPr>
          <p:cNvPr id="8" name="Chevron 7"/>
          <p:cNvSpPr/>
          <p:nvPr/>
        </p:nvSpPr>
        <p:spPr>
          <a:xfrm>
            <a:off x="3017520" y="1737360"/>
            <a:ext cx="548640" cy="457200"/>
          </a:xfrm>
          <a:prstGeom prst="chevron">
            <a:avLst/>
          </a:prstGeom>
          <a:solidFill>
            <a:srgbClr val="88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16002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88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88844"/>
                </a:solidFill>
                <a:latin typeface="Microsoft YaHei"/>
              </a:defRPr>
            </a:pPr>
            <a:r>
              <a:t>同城双活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秒级RTO</a:t>
            </a:r>
            <a:br/>
            <a:r>
              <a:t>AZ级容灾</a:t>
            </a:r>
          </a:p>
        </p:txBody>
      </p:sp>
      <p:sp>
        <p:nvSpPr>
          <p:cNvPr id="11" name="Chevron 10"/>
          <p:cNvSpPr/>
          <p:nvPr/>
        </p:nvSpPr>
        <p:spPr>
          <a:xfrm>
            <a:off x="5852160" y="1737360"/>
            <a:ext cx="548640" cy="457200"/>
          </a:xfrm>
          <a:prstGeom prst="chevron">
            <a:avLst/>
          </a:prstGeom>
          <a:solidFill>
            <a:srgbClr val="44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6002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44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448888"/>
                </a:solidFill>
                <a:latin typeface="Microsoft YaHei"/>
              </a:defRPr>
            </a:pPr>
            <a:r>
              <a:t>异地多活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分钟级RTO</a:t>
            </a:r>
            <a:br/>
            <a:r>
              <a:t>Region级容灾</a:t>
            </a:r>
          </a:p>
        </p:txBody>
      </p:sp>
      <p:sp>
        <p:nvSpPr>
          <p:cNvPr id="14" name="Chevron 13"/>
          <p:cNvSpPr/>
          <p:nvPr/>
        </p:nvSpPr>
        <p:spPr>
          <a:xfrm>
            <a:off x="8686800" y="1737360"/>
            <a:ext cx="548640" cy="457200"/>
          </a:xfrm>
          <a:prstGeom prst="chevron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1600200"/>
            <a:ext cx="25603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Grid架构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秒级/无感RTO</a:t>
            </a:r>
            <a:br/>
            <a:r>
              <a:t>统一编排自愈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Grid架构六大核心原则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1783080" cy="5486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Cell-Based自治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故障隔离、独立运行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474720"/>
            <a:ext cx="1783080" cy="5486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数据面去中心化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Multi-Master、Paxos/Raft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474720"/>
            <a:ext cx="1783080" cy="5486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流量就近接入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GSLB毫秒级健康检测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783080" cy="5486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爆炸半径控制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多层次故障隔离体系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4160520"/>
            <a:ext cx="1783080" cy="5486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统一运维自愈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AIOps驱动的自动化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160520"/>
            <a:ext cx="1783080" cy="5486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API-first声明式</a:t>
            </a:r>
          </a:p>
          <a:p>
            <a:pPr algn="ctr">
              <a:defRPr sz="900">
                <a:solidFill>
                  <a:srgbClr val="CCCCCC"/>
                </a:solidFill>
                <a:latin typeface="Microsoft YaHei"/>
              </a:defRPr>
            </a:pPr>
            <a:r>
              <a:t>K8s声明式资源管理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厂商对比矩阵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4747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华为云</a:t>
            </a:r>
          </a:p>
          <a:p>
            <a:pPr>
              <a:defRPr sz="900">
                <a:solidFill>
                  <a:srgbClr val="CCCCCC"/>
                </a:solidFill>
                <a:latin typeface="Microsoft YaHei"/>
              </a:defRPr>
            </a:pPr>
            <a:r>
              <a:t>Super AZ</a:t>
            </a:r>
            <a:br/>
            <a:r>
              <a:t>UniformLive</a:t>
            </a:r>
            <a:br/>
            <a:r>
              <a:t>GaussDB</a:t>
            </a:r>
            <a:br/>
            <a:r>
              <a:t>电信级+互联网弹性</a:t>
            </a:r>
            <a:br/>
            <a:r>
              <a:t>最深入Grid实践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47472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  <a:latin typeface="Microsoft YaHei"/>
              </a:defRPr>
            </a:pPr>
            <a:r>
              <a:t>AWS</a:t>
            </a:r>
          </a:p>
          <a:p>
            <a:pPr>
              <a:defRPr sz="900">
                <a:solidFill>
                  <a:srgbClr val="CCCCCC"/>
                </a:solidFill>
                <a:latin typeface="Microsoft YaHei"/>
              </a:defRPr>
            </a:pPr>
            <a:r>
              <a:t>Multi-AZ</a:t>
            </a:r>
            <a:br/>
            <a:r>
              <a:t>Aurora Global</a:t>
            </a:r>
            <a:br/>
            <a:r>
              <a:t>DynamoDB</a:t>
            </a:r>
            <a:br/>
            <a:r>
              <a:t>最成熟云生态</a:t>
            </a:r>
            <a:br/>
            <a:r>
              <a:t>Well-Architected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754879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Google</a:t>
            </a:r>
          </a:p>
          <a:p>
            <a:pPr>
              <a:defRPr sz="900">
                <a:solidFill>
                  <a:srgbClr val="CCCCCC"/>
                </a:solidFill>
                <a:latin typeface="Microsoft YaHei"/>
              </a:defRPr>
            </a:pPr>
            <a:r>
              <a:t>Borg/Omega</a:t>
            </a:r>
            <a:br/>
            <a:r>
              <a:t>Spanner</a:t>
            </a:r>
            <a:br/>
            <a:r>
              <a:t>SRE体系</a:t>
            </a:r>
            <a:br/>
            <a:r>
              <a:t>全球分布式先驱</a:t>
            </a:r>
            <a:br/>
            <a:r>
              <a:t>SRE方法论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4754879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BCF2"/>
                </a:solidFill>
                <a:latin typeface="Microsoft YaHei"/>
              </a:defRPr>
            </a:pPr>
            <a:r>
              <a:t>Azure</a:t>
            </a:r>
          </a:p>
          <a:p>
            <a:pPr>
              <a:defRPr sz="900">
                <a:solidFill>
                  <a:srgbClr val="CCCCCC"/>
                </a:solidFill>
                <a:latin typeface="Microsoft YaHei"/>
              </a:defRPr>
            </a:pPr>
            <a:r>
              <a:t>Availability Zone</a:t>
            </a:r>
            <a:br/>
            <a:r>
              <a:t>Cosmos DB</a:t>
            </a:r>
            <a:br/>
            <a:r>
              <a:t>Chaos Studio</a:t>
            </a:r>
            <a:br/>
            <a:r>
              <a:t>企业级混合云</a:t>
            </a:r>
            <a:br/>
            <a:r>
              <a:t>与Microsoft生态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华为云分布式云战略白皮书(2023); AWS Well-Architected Framework Reliability Pillar(2024); Verma et al., Large-scale cluster management at Google with Borg, EuroSys 2015; 架构演进图参考: 华为云官网 huaweicloud.com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华为云Grid实践详解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Super AZ · UniformLive · GaussDB · CSE — 电信级可靠性的云端实现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华为云Grid架构层次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640080"/>
          </a:xfrm>
          <a:prstGeom prst="roundRect">
            <a:avLst>
              <a:gd name="adj" fmla="val 5000"/>
            </a:avLst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全局控制面: RGC(Resource Governance Center) — 统一资源编排与治理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120640" cy="640080"/>
          </a:xfrm>
          <a:prstGeom prst="roundRect">
            <a:avLst>
              <a:gd name="adj" fmla="val 5000"/>
            </a:avLst>
          </a:prstGeom>
          <a:solidFill>
            <a:srgbClr val="1F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Grid调度层: 智能调度引擎 — 跨Cell负载均衡、故障转移、容量管理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4937759" cy="64008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Cell自治层: Super AZ — 自包含计算/存储/网络，独立运行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4754879" cy="640080"/>
          </a:xfrm>
          <a:prstGeom prst="roundRect">
            <a:avLst>
              <a:gd name="adj" fmla="val 5000"/>
            </a:avLst>
          </a:prstGeom>
          <a:solidFill>
            <a:srgbClr val="44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数据同步层: DRS(数据复制服务) + GaussDB分布式 — 跨Cell强一致性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4572000" cy="640080"/>
          </a:xfrm>
          <a:prstGeom prst="roundRect">
            <a:avLst>
              <a:gd name="adj" fmla="val 5000"/>
            </a:avLst>
          </a:prstGeom>
          <a:solidFill>
            <a:srgbClr val="55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服务治理层: CSE(微服务引擎) — 服务注册发现、熔断降级、灰度发布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效果指标与技术亮点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Super AZ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将多个AZ逻辑整合为一个"超级可用区"，应用无需感知底层AZ边界，故障切换在秒级完成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UniformLive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跨Region实时数据同步技术，RPO≈0，基于GaussDB In-place Update引擎优化写入延迟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29000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GaussDB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华为自研分布式数据库，支持跨Region强一致性，Paxos协议保障，已在金融/电信核心系统规模部署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79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CSE微服务引擎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兼容Spring Cloud/Dubbo，内置服务网格能力，支持跨Cell的服务注册发现和流量管理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166360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DRS数据复制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支持同构/异构数据库实时同步，延迟&lt;1秒，支撑核心网会话数据的跨Region保护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华为云官网: gaussdb.huaweicloud.com, huaweicloud.com/product/cse, huaweicloud.com/product/drs; 华为云分布式云战略白皮书(2023); 架构图参考: 华为全联接大会HC 2023/2024技术演讲PPT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5G核心网Grid化部署方案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AMF/SMF/UPF/UDM的跨Region容灾架构设计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三层Cell架构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1828800"/>
            <a:ext cx="10972800" cy="1280160"/>
          </a:xfrm>
          <a:prstGeom prst="roundRect">
            <a:avLst>
              <a:gd name="adj" fmla="val 5000"/>
            </a:avLst>
          </a:prstGeom>
          <a:solidFill>
            <a:srgbClr val="1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中心Cell</a:t>
            </a:r>
            <a:br/>
            <a:r>
              <a:t>UDM · AUSF · NRF</a:t>
            </a:r>
            <a:br/>
            <a:r>
              <a:t>全国/省级控制面</a:t>
            </a:r>
            <a:br/>
            <a:r>
              <a:t>核心数据中心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3474720"/>
            <a:ext cx="10058400" cy="128016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区域Cell</a:t>
            </a:r>
            <a:br/>
            <a:r>
              <a:t>AMF · SMF · UPF · PCF</a:t>
            </a:r>
            <a:br/>
            <a:r>
              <a:t>区域控制面+用户面</a:t>
            </a:r>
            <a:br/>
            <a:r>
              <a:t>地市数据中心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23847" y="5120640"/>
            <a:ext cx="9144000" cy="1280160"/>
          </a:xfrm>
          <a:prstGeom prst="roundRect">
            <a:avLst>
              <a:gd name="adj" fmla="val 5000"/>
            </a:avLst>
          </a:prstGeom>
          <a:solidFill>
            <a:srgbClr val="44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边缘Cell</a:t>
            </a:r>
            <a:br/>
            <a:r>
              <a:t>边缘UPF · MEC应用</a:t>
            </a:r>
            <a:br/>
            <a:r>
              <a:t>超低延迟处理</a:t>
            </a:r>
            <a:br/>
            <a:r>
              <a:t>基站侧/边缘DC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UPF无感切换: Anycast GTP-U + 会话状态同步(RPO=0, RTO&lt;1s) | AMF异地多活: AMF Set跨Region + SCTP Multi-homing | 数据一致性: Raft/Paxos强一致 + GaussDB分布式事务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3GPP TS 23.501 v18.4.0 System architecture for the 5G System; 3GPP TS 23.502 v18.4.0 Procedures for the 5G System; Grid映射架构图参考: 华为云分布式云白皮书 Fig.3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Track 3: AI for 可靠性洞察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感知-诊断-预测-自愈闭环 · AIOps论文增长300%+ · LLM重塑运维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AI赋能可靠性闭环能力体系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1737360"/>
            <a:ext cx="1005840" cy="10058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异常检测</a:t>
            </a:r>
            <a:br/>
            <a:r>
              <a:t>告警聚合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Transformer</a:t>
            </a:r>
            <a:br/>
            <a:r>
              <a:t>iTransformer</a:t>
            </a:r>
            <a:br/>
            <a:r>
              <a:t>PaAno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468880"/>
            <a:ext cx="320040" cy="27432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1737360"/>
            <a:ext cx="1005840" cy="10058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根因定位</a:t>
            </a:r>
            <a:br/>
            <a:r>
              <a:t>故障溯源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GNN: MicroRCA</a:t>
            </a:r>
            <a:br/>
            <a:r>
              <a:t>因果推断: Mulan</a:t>
            </a:r>
            <a:br/>
            <a:r>
              <a:t>Chain-of-Event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5040" y="2468880"/>
            <a:ext cx="32004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5160" y="1737360"/>
            <a:ext cx="1005840" cy="1005840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故障预警</a:t>
            </a:r>
            <a:br/>
            <a:r>
              <a:t>预测扩缩容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PatchTST</a:t>
            </a:r>
            <a:br/>
            <a:r>
              <a:t>TimesFM</a:t>
            </a:r>
            <a:br/>
            <a:r>
              <a:t>PdM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15400" y="2468880"/>
            <a:ext cx="320040" cy="27432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645920"/>
            <a:ext cx="2651760" cy="29260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75520" y="1737360"/>
            <a:ext cx="1005840" cy="1005840"/>
          </a:xfrm>
          <a:prstGeom prst="ellipse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自愈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80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自动恢复</a:t>
            </a:r>
            <a:br/>
            <a:r>
              <a:t>容灾决策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RL流控</a:t>
            </a:r>
            <a:br/>
            <a:r>
              <a:t>Self-Healing</a:t>
            </a:r>
            <a:br/>
            <a:r>
              <a:t>LLM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30000" cy="13716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LLM赋能运维（2024-2026爆发式增长）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日志分析: LLM4Log系统综述(arXiv 2026) — 自动日志解析、异常检测、根因推断</a:t>
            </a:r>
            <a:br/>
            <a:r>
              <a:t>● 告警理解: LLM将告警风暴归纳为incident叙述，降低认知负荷(Zha et al. Electronics 2024)</a:t>
            </a:r>
            <a:br/>
            <a:r>
              <a:t>● 修复建议: LLM Agent自动分析故障上下文，生成候选修复方案(Aravindakshan IEEE ICBC 2026)</a:t>
            </a:r>
            <a:br/>
            <a:r>
              <a:t>● 安全评估: AIOps for Reliability — LLM在混沌工程中评估自动根因分析(Szandala ICCS 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Zhang et al., A survey of AIOps in the era of LLMs, ACM Computing Surveys 2025; Somershekar et al., Gamma: GNN-based multi-bottleneck localization, WWW 2024; AI闭环图参考: Zhang et al. Fig.1 AIOps技术栈全景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5G核心网AI可靠性应用方案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信令异常检测 · 根因定位 · 话务预测 · 自愈策略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5GC信令面异常检测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监控: 注册请求速率/PDU会话成功率/Handover成功率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方法: Transformer异常检测 + 5GC话务周期先验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信令风暴检测: 在线学习 + 自适应阈值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标准: 对齐3GPP TS 23.501/502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8872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核心网根因定位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构建5GC拓扑图(NRF自动发现)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GNN方法: Mulan多模态因果图学习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因果推断: 处理UDM→AMF长链传播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知识图谱辅助: 历史故障传播路径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C623"/>
                </a:solidFill>
                <a:latin typeface="Microsoft YaHei"/>
              </a:defRPr>
            </a:pPr>
            <a:r>
              <a:t>智能话务预测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5195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输入: 话务历史+日历特征+外部事件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模型: PatchTST/TimesFM基础模型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输出: N分钟级话务量预测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扩缩容: RL优化策略平衡资源与QoS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49039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840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F51"/>
                </a:solidFill>
                <a:latin typeface="Microsoft YaHei"/>
              </a:defRPr>
            </a:pPr>
            <a:r>
              <a:t>AI驱动核心网自愈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251959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微自愈: 实例重启/资源调整/路径切换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宏自愈: NF隔离替换/跨Cell故障转移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人机协同: 高/中/低置信度三级模式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● 约束: 毫秒级响应+电信级SLA保障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3GPP TS 23.501 v18.4.0; Zheng et al., Mulan, WWW 2024; Xu et al., MicroRCA, SIGCOMM 2023; Aravindakshan, Agentic AI for self-healing, IEEE ICBC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Track 4: 软件可靠性洞察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Bug发现·定界定位·自动修复 — 全链路软件可靠性工程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C623"/>
                </a:solidFill>
                <a:latin typeface="Microsoft YaHei"/>
              </a:defRPr>
            </a:pPr>
            <a:r>
              <a:t>全链路Bug管理流水线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6F51"/>
                </a:solidFill>
                <a:latin typeface="Microsoft YaHei"/>
              </a:defRPr>
            </a:pPr>
            <a:r>
              <a:t>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静态分析</a:t>
            </a:r>
            <a:br/>
            <a:r>
              <a:t>Fuzzing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Infer/Tricorder</a:t>
            </a:r>
            <a:br/>
            <a:r>
              <a:t>AFL++/AFL-Net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194560"/>
            <a:ext cx="320040" cy="320040"/>
          </a:xfrm>
          <a:prstGeom prst="rightArrow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C623"/>
                </a:solidFill>
                <a:latin typeface="Microsoft YaHei"/>
              </a:defRPr>
            </a:pPr>
            <a: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SBFL</a:t>
            </a:r>
            <a:br/>
            <a:r>
              <a:t>ML/LLM定位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Ochiai/Tarantula</a:t>
            </a:r>
            <a:br/>
            <a:r>
              <a:t>AgentFL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2194560"/>
            <a:ext cx="320040" cy="32004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APR</a:t>
            </a:r>
            <a:br/>
            <a:r>
              <a:t>LLM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RepairAgent</a:t>
            </a:r>
            <a:br/>
            <a:r>
              <a:t>DebugRepair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9680" y="2194560"/>
            <a:ext cx="320040" cy="32004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6459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Microsoft YaHei"/>
              </a:defRPr>
            </a:pPr>
            <a:r>
              <a:t>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回归测试</a:t>
            </a:r>
            <a:br/>
            <a:r>
              <a:t>灰度发布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B4D8"/>
                </a:solidFill>
                <a:latin typeface="Microsoft YaHei"/>
              </a:defRPr>
            </a:pPr>
            <a:r>
              <a:t>CI/CD集成</a:t>
            </a:r>
            <a:br/>
            <a:r>
              <a:t>金丝雀部署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C623"/>
                </a:solidFill>
                <a:latin typeface="Microsoft YaHei"/>
              </a:defRPr>
            </a:pPr>
            <a:r>
              <a:t>工业界大规模实践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23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Microsoft YaHei"/>
              </a:defRPr>
            </a:pPr>
            <a:r>
              <a:t>Google Tricorder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434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数百种静态分析器嵌入代码审查</a:t>
            </a:r>
            <a:br/>
            <a:r>
              <a:t>每日分析数十亿行代码</a:t>
            </a:r>
            <a:br/>
            <a:r>
              <a:t>2026: LLM集成测试失败诊断(Critique)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023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187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77D0"/>
                </a:solidFill>
                <a:latin typeface="Microsoft YaHei"/>
              </a:defRPr>
            </a:pPr>
            <a:r>
              <a:t>Meta Infer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434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基于分离逻辑的组合式分析</a:t>
            </a:r>
            <a:br/>
            <a:r>
              <a:t>每日扫描数百万行移动代码</a:t>
            </a:r>
            <a:br/>
            <a:r>
              <a:t>ESOP 2024: 增强组合式分析框架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02336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4069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51"/>
                </a:solidFill>
                <a:latin typeface="Microsoft YaHei"/>
              </a:defRPr>
            </a:pPr>
            <a:r>
              <a:t>5GC专项Fuzzing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434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5GC-Fuzz(INFOCOM'25)黑盒5GC测试</a:t>
            </a:r>
            <a:br/>
            <a:r>
              <a:t>CoreCrisis(USENIX Security'25)</a:t>
            </a:r>
            <a:br/>
            <a:r>
              <a:t>AFL-Net有状态协议Fuzzing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Sadowski et al., Lessons from Building Static Analysis Tools at Google, CACM 2018; Distefano et al., Scaling Static Analyses at Facebook, CACM 2019; Sun et al., 5GC-Fuzz, INFOCOM 2025; Dong et al., CoreCrisis, USENIX Security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核心网软件可靠性保障体系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分层Fuzzing · AI辅助定位 · DevOps集成的可靠性工程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C623"/>
                </a:solidFill>
                <a:latin typeface="Microsoft YaHei"/>
              </a:defRPr>
            </a:pPr>
            <a:r>
              <a:t>核心网分层Fuzzing架构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8B22"/>
                </a:solidFill>
                <a:latin typeface="Microsoft YaHei"/>
              </a:defRPr>
            </a:pPr>
            <a:r>
              <a:t>单元级 Fuzzing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libFuzzer/AFL++ → 协议编解码函数</a:t>
            </a:r>
            <a:br/>
            <a:r>
              <a:t>CI流水线持续运行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8B57"/>
                </a:solidFill>
                <a:latin typeface="Microsoft YaHei"/>
              </a:defRPr>
            </a:pPr>
            <a:r>
              <a:t>接口级 Fuzzing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Boofuzz/自研 → SBI(HTTP/2)/NGAP/PFCP</a:t>
            </a:r>
            <a:br/>
            <a:r>
              <a:t>基于3GPP TS 29.500生成输入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476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CD8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D853F"/>
                </a:solidFill>
                <a:latin typeface="Microsoft YaHei"/>
              </a:defRPr>
            </a:pPr>
            <a:r>
              <a:t>端到端 Fuzzing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AFL-Net/5GC-Fuzz → 完整信令流程</a:t>
            </a:r>
            <a:br/>
            <a:r>
              <a:t>有状态Fuzzing + 协议状态机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C623"/>
                </a:solidFill>
                <a:latin typeface="Microsoft YaHei"/>
              </a:defRPr>
            </a:pPr>
            <a:r>
              <a:t>三级AI辅助Bug定位流水线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Level 1: 快速定界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分布式Trace(OpenTelemetry) + 异常检测(Isolation Forest)</a:t>
            </a:r>
            <a:br/>
            <a:r>
              <a:t>→ 因果推断构建故障传播图谱，分钟级定界到网元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C623"/>
                </a:solidFill>
                <a:latin typeface="Microsoft YaHei"/>
              </a:defRPr>
            </a:pPr>
            <a:r>
              <a:t>Level 2: 精确定位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SBFL(Ochiai) + ML模型(融合代码变更历史)</a:t>
            </a:r>
            <a:br/>
            <a:r>
              <a:t>→ LLM免测试定位(AgentFL)，代码行级定位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303520" cy="8686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Level 3: 智能诊断</a:t>
            </a:r>
          </a:p>
          <a:p>
            <a:pPr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LLM分析故障上下文 → 生成诊断报告</a:t>
            </a:r>
            <a:br/>
            <a:r>
              <a:t>→ RepairAgent自动生成候选修复补丁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754880"/>
            <a:ext cx="11430000" cy="14630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C623"/>
                </a:solidFill>
                <a:latin typeface="Microsoft YaHei"/>
              </a:defRPr>
            </a:pPr>
            <a:r>
              <a:t>DevOps集成的持续可靠性保障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12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代码提交</a:t>
            </a:r>
            <a:br/>
            <a:r>
              <a:t>静态分析</a:t>
            </a:r>
            <a:br/>
            <a:r>
              <a:t>代码审查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60320" y="5440680"/>
            <a:ext cx="320040" cy="27432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40" y="5212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构建</a:t>
            </a:r>
            <a:br/>
            <a:r>
              <a:t>增量分析</a:t>
            </a:r>
            <a:br/>
            <a:r>
              <a:t>单元Fuzzing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5440680"/>
            <a:ext cx="320040" cy="27432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5212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测试</a:t>
            </a:r>
            <a:br/>
            <a:r>
              <a:t>一致性测试</a:t>
            </a:r>
            <a:br/>
            <a:r>
              <a:t>接口Fuzzing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2320" y="5440680"/>
            <a:ext cx="320040" cy="27432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0" y="5212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部署</a:t>
            </a:r>
            <a:br/>
            <a:r>
              <a:t>灰度发布</a:t>
            </a:r>
            <a:br/>
            <a:r>
              <a:t>端到端验证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18320" y="5440680"/>
            <a:ext cx="320040" cy="27432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92640" y="521208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运维</a:t>
            </a:r>
            <a:br/>
            <a:r>
              <a:t>AIOps平台</a:t>
            </a:r>
            <a:br/>
            <a:r>
              <a:t>根因定位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Sadowski et al., CACM 2018; Distefano et al., CACM 2019; Bouzenia et al., RepairAgent, ICSE 2025; Sun et al., 5GC-Fuzz, INFOCOM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综合洞察：核心网超可靠架构蓝图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核电方法论 × 云Grid工程实践 = 五层纵深容错架构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第5层</a:t>
            </a:r>
            <a:br/>
            <a:r>
              <a:t>全局应急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344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DNS全局流量调度</a:t>
            </a:r>
            <a:br/>
            <a:r>
              <a:t>灾难恢复计划</a:t>
            </a:r>
            <a:br/>
            <a:r>
              <a:t>事后分析改进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325880"/>
            <a:ext cx="1371600" cy="457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B0000"/>
                </a:solidFill>
                <a:latin typeface="Microsoft YaHei"/>
              </a:defRPr>
            </a:pPr>
            <a:r>
              <a:t>RTO&lt;30min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7955279" cy="777240"/>
          </a:xfrm>
          <a:prstGeom prst="roundRect">
            <a:avLst>
              <a:gd name="adj" fmla="val 5000"/>
            </a:avLst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第4层</a:t>
            </a:r>
            <a:br/>
            <a:r>
              <a:t>Region容灾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1488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跨Region容灾切换</a:t>
            </a:r>
            <a:br/>
            <a:r>
              <a:t>异构冗余部署(β&lt;0.01)</a:t>
            </a:r>
            <a:br/>
            <a:r>
              <a:t>数据一致性恢复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19" y="2240280"/>
            <a:ext cx="1371600" cy="457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22222"/>
                </a:solidFill>
                <a:latin typeface="Microsoft YaHei"/>
              </a:defRPr>
            </a:pPr>
            <a:r>
              <a:t>RTO&lt;5min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5000"/>
            </a:avLst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第3层</a:t>
            </a:r>
            <a:br/>
            <a:r>
              <a:t>AZ容灾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632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Pod/容器自动重启</a:t>
            </a:r>
            <a:br/>
            <a:r>
              <a:t>AZ内自动切换</a:t>
            </a:r>
            <a:br/>
            <a:r>
              <a:t>熔断降级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154680"/>
            <a:ext cx="1371600" cy="457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CD8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D853F"/>
                </a:solidFill>
                <a:latin typeface="Microsoft YaHei"/>
              </a:defRPr>
            </a:pPr>
            <a:r>
              <a:t>RTO&lt;1min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79" y="3931920"/>
            <a:ext cx="7406640" cy="777240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第2层</a:t>
            </a:r>
            <a:br/>
            <a:r>
              <a:t>检测控制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39776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AI异常检测(Transformer)</a:t>
            </a:r>
            <a:br/>
            <a:r>
              <a:t>自动限流降级</a:t>
            </a:r>
            <a:br/>
            <a:r>
              <a:t>多层健康检查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199" y="4069080"/>
            <a:ext cx="1371600" cy="457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8B57"/>
                </a:solidFill>
                <a:latin typeface="Microsoft YaHei"/>
              </a:defRPr>
            </a:pPr>
            <a:r>
              <a:t>MTTD&lt;30s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846320"/>
            <a:ext cx="7132320" cy="777240"/>
          </a:xfrm>
          <a:prstGeom prst="roundRect">
            <a:avLst>
              <a:gd name="adj" fmla="val 5000"/>
            </a:avLst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第1层</a:t>
            </a:r>
            <a:br/>
            <a:r>
              <a:t>代码预防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892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静态分析+Fuzzing</a:t>
            </a:r>
            <a:br/>
            <a:r>
              <a:t>代码审查+单元测试</a:t>
            </a:r>
            <a:br/>
            <a:r>
              <a:t>CI/CD流水线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983480"/>
            <a:ext cx="1371600" cy="457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28B22"/>
                </a:solidFill>
                <a:latin typeface="Microsoft YaHei"/>
              </a:defRPr>
            </a:pPr>
            <a:r>
              <a:t>缺陷↓50%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方法论来源: 核电纵深防御(IAEA SSR-2/1) + Grid Cell-Based自治(华为云) + AI全链路赋能(Track 3+4)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IAEA SSR-2/1 Defence in depth (2016); 华为云Grid架构白皮书; 架构融合图为本项目综合分析产出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综合洞察：开发态 × 运行态 全链路可靠性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AI for可靠性 + 软件可靠性 → 从代码提交到运行自愈的完整闭环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运行时</a:t>
            </a:r>
            <a:br/>
            <a:r>
              <a:t>异常检测</a:t>
            </a:r>
            <a:br/>
            <a:br/>
            <a:r>
              <a:t>Track 3</a:t>
            </a:r>
            <a:br/>
            <a:r>
              <a:t>Transformer/SSM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1783080"/>
            <a:ext cx="365760" cy="27432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根因</a:t>
            </a:r>
            <a:br/>
            <a:r>
              <a:t>网元定位</a:t>
            </a:r>
            <a:br/>
            <a:br/>
            <a:r>
              <a:t>Track 3</a:t>
            </a:r>
            <a:br/>
            <a:r>
              <a:t>GNN/因果推断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54880" y="1783080"/>
            <a:ext cx="365760" cy="2743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代码级</a:t>
            </a:r>
            <a:br/>
            <a:r>
              <a:t>故障定位</a:t>
            </a:r>
            <a:br/>
            <a:br/>
            <a:r>
              <a:t>Track 4</a:t>
            </a:r>
            <a:br/>
            <a:r>
              <a:t>SBFL/LLM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320" y="1783080"/>
            <a:ext cx="365760" cy="274320"/>
          </a:xfrm>
          <a:prstGeom prst="rightArrow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E8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自动</a:t>
            </a:r>
            <a:br/>
            <a:r>
              <a:t>代码修复</a:t>
            </a:r>
            <a:br/>
            <a:br/>
            <a:r>
              <a:t>Track 4</a:t>
            </a:r>
            <a:br/>
            <a:r>
              <a:t>RepairAgent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09760" y="1783080"/>
            <a:ext cx="365760" cy="274320"/>
          </a:xfrm>
          <a:prstGeom prst="rightArrow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13716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验证</a:t>
            </a:r>
            <a:br/>
            <a:r>
              <a:t>部署上线</a:t>
            </a:r>
            <a:br/>
            <a:br/>
            <a:r>
              <a:t>Track 4+3</a:t>
            </a:r>
            <a:br/>
            <a:r>
              <a:t>CI/CD+监控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闭环效果：从"被动救火"到"主动预防"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F51"/>
                </a:solidFill>
                <a:latin typeface="Microsoft YaHei"/>
              </a:defRPr>
            </a:pPr>
            <a:r>
              <a:t>传统模式 (被动响应)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故障发生 → 告警触发 → 人工定位(30min+)</a:t>
            </a:r>
            <a:br/>
            <a:r>
              <a:t>→ 人工处置 → 事后复盘</a:t>
            </a:r>
            <a:br/>
            <a:br/>
            <a:r>
              <a:t>MTTR: 30分钟 ~ 数小时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目标模式 (主动预防)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AI预测风险 → 自动评估影响 → 预置防御</a:t>
            </a:r>
            <a:br/>
            <a:r>
              <a:t>→ 故障时自动自愈 → 自动复盘优化</a:t>
            </a:r>
            <a:br/>
            <a:br/>
            <a:r>
              <a:t>MTTR: &lt;5分钟（大部分&lt;1分钟）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20640"/>
            <a:ext cx="11430000" cy="109728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LLM — 贯穿开发态与运行态的桥梁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开发态: 免测试故障定位(AgentFL) → 自动程序修复(RepairAgent) → 智能Fuzzing种子生成</a:t>
            </a:r>
            <a:br/>
            <a:r>
              <a:t>运行态: 日志分析(LLM4Log) → 告警理解(Zha 2024) → 修复建议生成(Aravindakshan 2026)</a:t>
            </a:r>
            <a:br/>
            <a:r>
              <a:t>策略: 高置信度自动执行 | 中置信度人机协同 | 低置信度人工决策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📷 图片来源: Bouzenia et al., RepairAgent, ICSE 2025; Yang et al., LLM for Test-Free FL, ICSE 2024; Ma et al., LLM4Log, arXiv 2026; Aravindakshan, Agentic AI, IEEE ICBC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技术演进路线图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短期(6月) → 中期(1-2年) → 长期(3-5年)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731520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短期</a:t>
            </a:r>
            <a:br/>
            <a:r>
              <a:t>6个月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965960"/>
            <a:ext cx="1188720" cy="3200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立即可行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S1: 静态分析集成CI流水线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S2: ML异常检测(KPI)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S3: 告警聚合机制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S4: 协议Fuzzing(AFL++)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S5: Beta因子基线评估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投入低</a:t>
            </a:r>
            <a:br/>
            <a:r>
              <a:t>见效快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731520"/>
          </a:xfrm>
          <a:prstGeom prst="roundRect">
            <a:avLst>
              <a:gd name="adj" fmla="val 5000"/>
            </a:avLst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中期</a:t>
            </a:r>
            <a:br/>
            <a:r>
              <a:t>1-2年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965960"/>
            <a:ext cx="1188720" cy="3200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3C623"/>
                </a:solidFill>
                <a:latin typeface="Microsoft YaHei"/>
              </a:defRPr>
            </a:pPr>
            <a:r>
              <a:t>重点突破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M1: Grid化同城多活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M2: AI根因定位系统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M3: LLM运维助手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M4: 异构双栈部署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M5: 智能话务预测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3C623"/>
                </a:solidFill>
                <a:latin typeface="Microsoft YaHei"/>
              </a:defRPr>
            </a:pPr>
            <a:r>
              <a:t>中等投入</a:t>
            </a:r>
            <a:br/>
            <a:r>
              <a:t>架构升级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731520"/>
          </a:xfrm>
          <a:prstGeom prst="roundRect">
            <a:avLst>
              <a:gd name="adj" fmla="val 5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长期</a:t>
            </a:r>
            <a:br/>
            <a:r>
              <a:t>3-5年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24160" y="1965960"/>
            <a:ext cx="1188720" cy="32004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B4D8"/>
                </a:solidFill>
                <a:latin typeface="Microsoft YaHei"/>
              </a:defRPr>
            </a:pPr>
            <a:r>
              <a:t>架构变革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L1: 全国Grid化部署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L2: 多云异构容灾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L3: AI全自动自愈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L4: 概率风险评估(PSA)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L5: LLM持续可靠性工程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战略投入</a:t>
            </a:r>
            <a:br/>
            <a:r>
              <a:t>行业领先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量化目标演进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760720"/>
            <a:ext cx="2103120" cy="2743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99AA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760720"/>
            <a:ext cx="2103120" cy="2743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4444"/>
                </a:solidFill>
                <a:latin typeface="Microsoft YaHei"/>
              </a:defRPr>
            </a:pPr>
            <a:r>
              <a:t>当前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5760720"/>
            <a:ext cx="2103120" cy="2743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48844"/>
                </a:solidFill>
                <a:latin typeface="Microsoft YaHei"/>
              </a:defRPr>
            </a:pPr>
            <a:r>
              <a:t>短期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79" y="5760720"/>
            <a:ext cx="2103120" cy="2743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8844"/>
                </a:solidFill>
                <a:latin typeface="Microsoft YaHei"/>
              </a:defRPr>
            </a:pPr>
            <a:r>
              <a:t>中期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5760720"/>
            <a:ext cx="2103120" cy="2743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44488"/>
                </a:solidFill>
                <a:latin typeface="Microsoft YaHei"/>
              </a:defRPr>
            </a:pPr>
            <a:r>
              <a:t>长期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可用性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99.99%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99.995%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79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99.999%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36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MTTD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6336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5-15min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6336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&lt;1min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6336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&lt;30s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928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MTTR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65928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30-60min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65928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&lt;10min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65928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&lt;5min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848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Beta因子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6848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~0.3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6848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684885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&lt;0.01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7104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AI定位率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7104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&lt;10%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7104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79" y="71048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&gt;95%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结论与行动建议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面向云核心网产品决策者和架构师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方法论 × 工程实践</a:t>
            </a:r>
          </a:p>
          <a:p>
            <a:pPr algn="ctr"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核电纵深防御方法论 + 云Grid工程实践</a:t>
            </a:r>
            <a:br/>
            <a:r>
              <a:t>= 核心网"超可靠架构蓝图"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AI是倍增器非替代品</a:t>
            </a:r>
          </a:p>
          <a:p>
            <a:pPr algn="ctr"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先建立坚实架构基础(Grid/异构冗余)</a:t>
            </a:r>
            <a:br/>
            <a:r>
              <a:t>再叠加AI能力提升效率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3C623"/>
                </a:solidFill>
                <a:latin typeface="Microsoft YaHei"/>
              </a:defRPr>
            </a:pPr>
            <a:r>
              <a:t>LLM贯穿开发与运行</a:t>
            </a:r>
          </a:p>
          <a:p>
            <a:pPr algn="ctr"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同时重塑软件开发(Bug定位/修复)</a:t>
            </a:r>
            <a:br/>
            <a:r>
              <a:t>和运行时(日志分析/自愈决策)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五项行动建议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566160"/>
            <a:ext cx="411480" cy="411480"/>
          </a:xfrm>
          <a:prstGeom prst="ellipse">
            <a:avLst/>
          </a:prstGeom>
          <a:solidFill>
            <a:srgbClr val="E8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立即启动可靠性基线评估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566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量化Beta因子、MTTD、MTTR → 为投入决策提供数据基础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160520"/>
            <a:ext cx="411480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6个月内完成"低垂果实"采摘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160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静态分析集成 + AI异常检测 + 告警聚合 → 投入产出比最高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75488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1年内启动Grid化同城多活建设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754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中长期架构演进基础，先在非关键业务试点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349240"/>
            <a:ext cx="411480" cy="411480"/>
          </a:xfrm>
          <a:prstGeom prst="ellipse">
            <a:avLst/>
          </a:prstGeom>
          <a:solidFill>
            <a:srgbClr val="F3C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建立跨领域可靠性工程团队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349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涵盖核电方法论+AI/ML+云原生+电信核心网四领域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94360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制定3-5年演进路线图并定期审视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943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每季度审视进展，参考核电定期安全审查制度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6217920"/>
            <a:ext cx="11430000" cy="457200"/>
          </a:xfrm>
          <a:prstGeom prst="roundRect">
            <a:avLst>
              <a:gd name="adj" fmla="val 5000"/>
            </a:avLst>
          </a:prstGeom>
          <a:solidFill>
            <a:srgbClr val="24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8899AA"/>
                </a:solidFill>
                <a:latin typeface="Microsoft YaHei"/>
              </a:defRPr>
            </a:pPr>
            <a:r>
              <a:t>本洞察基于CCF A/B类学术文献 · IEC/IAEA/3GPP行业标准 · 华为云/AWS/Google技术报告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99AA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