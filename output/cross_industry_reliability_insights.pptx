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9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看行业：核电异构网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CF0"/>
                </a:solidFill>
                <a:latin typeface="Microsoft YaHei"/>
              </a:defRPr>
            </a:pPr>
            <a:r>
              <a:t>核电核心要求 vs 云核心网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2296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2560320"/>
                <a:gridCol w="14630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核电要求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云核心网要求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可用度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CDF&lt;10⁻⁵/堆年 (99.9999%)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网元可用性≥99.999%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相同(极致可靠)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组网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4重冗余+2oo4表决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AMF Set/SMF Set多副本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部分相同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故障处置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纵深防御5层+故障安全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Pod重启→AZ容灾→Region容灾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框架相同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CCF防控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异构冗余(能动+非能动)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同构冗余为主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不同(需补课)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定期验证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定期安全审查+PSA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Chaos Engineering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理念相同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" y="2788920"/>
            <a:ext cx="4754880" cy="256032"/>
          </a:xfrm>
          <a:prstGeom prst="rect">
            <a:avLst/>
          </a:prstGeom>
          <a:solidFill>
            <a:srgbClr val="009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核电异构技术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63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1) 硬件异构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策略A(最高): 数字化 vs 模拟/硬接线 — AP1000 PMS+DAS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策略B(高):   不同CPU架构 CPU vs FPGA — NASPIC+NuPAC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策略C(中):   不同制造商 — Common Q vs TXS vs Triconex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华龙一号三重异构: FirmSys(CPU) + NASPIC(CPU) + NuPAC(FPGA)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2) 软件异构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N版本编程(NVP): 多团队独立开发 → 表决逻辑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Knight&amp;Leveson: 85%概率无相似故障, 但不能保证独立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最极端策略: AP1000 DAS — 非软件化模拟后备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形式化方法: B方法/SPARK Ada → 数学证明替代部分多样性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3) 共因故障(CCF)量化与防控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β因子模型: β=Q_CCF/Q_total → 多样性措施使β从0.3降至0.01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策略A(不同技术): β降低80%-90%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策略B(不同方法): β降低50%-70%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ICDE数据库: 1000+CCF事件, 设计缺陷占30%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1">
                <a:solidFill>
                  <a:srgbClr val="FF9F43"/>
                </a:solidFill>
                <a:latin typeface="Microsoft YaHei"/>
              </a:defRPr>
            </a:pPr>
            <a:r>
              <a:t>  关键洞察: 2oo3系统危险故障概率≈βλ, CCF主导!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788920"/>
            <a:ext cx="2971800" cy="256032"/>
          </a:xfrm>
          <a:prstGeom prst="rect">
            <a:avLst/>
          </a:prstGeom>
          <a:solidFill>
            <a:srgbClr val="A2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云核心网借鉴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0632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硬件异构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VM+K8s双栈部署(策略B)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x86+ARM异构实例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多云部署(策略A: β→0.01)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4oo4表决 → Raft/Paxos共识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软件异构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多版本容器镜像并行部署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不同语言微服务(Go/Rust)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不同基础镜像(Alpine/Ubuntu)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协议Fuzzing替代部分多样性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CCF防控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建立β因子基线评估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渐进式: 同构→双栈→多云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β=0.3→0.05→0.01 (3阶段)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可用性: 99.99%→99.995%→99.999%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5989320"/>
            <a:ext cx="7863840" cy="685800"/>
          </a:xfrm>
          <a:prstGeom prst="rect">
            <a:avLst/>
          </a:prstGeom>
          <a:solidFill>
            <a:srgbClr val="0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0076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洞察启示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先防共因，再谈冗余 —— 2oo3系统危险故障概率≈βλ，CCF是可靠性的天花板 | AI Coding大发展，高成本异构方案（N版本编程、多云部署）成为可能 | 核电纵深防御方法论 + 云Grid工程实践 = 核心网"超可靠架构蓝图"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D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看行业：云厂商分布式架构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68E"/>
                </a:solidFill>
                <a:latin typeface="Microsoft YaHei"/>
              </a:defRPr>
            </a:pPr>
            <a:r>
              <a:t>云厂商可靠性要求 vs 云核心网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2296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2560320"/>
                <a:gridCol w="14630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云厂商实践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云核心网需求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可用度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99.99%+(AWS/Azure SLA)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99.999%(5个9目标)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核心网更高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故障隔离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Cell-Based自治单元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NF Set/切片隔离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理念相同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数据同步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GaussDB RPO=0 RTO&lt;10s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UE/PDU Session状态同步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部分相同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切换速度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秒级无感切换(UniformLive)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AMF/UPF秒级切换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目标相同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弹性伸缩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Auto Scaling+预测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话务预测+NF弹性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理念相同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" y="2788920"/>
            <a:ext cx="4754880" cy="256032"/>
          </a:xfrm>
          <a:prstGeom prst="rect">
            <a:avLst/>
          </a:prstGeom>
          <a:solidFill>
            <a:srgbClr val="00D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Cell化/Grid架构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63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1) AWS: 全球多Region+多AZ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33个Region, 105个AZ, 600+边缘节点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Aurora Global DB: 跨Region复制延迟&lt;1s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Route 53: 60s内检测端点故障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Chaos Engineering验证弹性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2) 华为云: 超级可用区+UniformLive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超级AZ: 多DC融合, RTT&lt;0.5ms, 故障透明切换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GaussDB: RPO=0, RTO&lt;10s, 邮储银行20亿笔/日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UniformLive: 有状态应用跨Region多活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30分钟搭建Landing Zone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3) Google: Spanner全球强一致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TrueTime API: GPS+原子钟, 有界误差全局时钟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Paxos: 3-5 Zone复制, 任意Zone故障不影响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Anycast: 单IP全球可达, 亚秒级故障切换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SRE方法论: 错误预算+SLO/SLI框架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788920"/>
            <a:ext cx="2971800" cy="256032"/>
          </a:xfrm>
          <a:prstGeom prst="rect">
            <a:avLst/>
          </a:prstGeom>
          <a:solidFill>
            <a:srgbClr val="A2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云核心网借鉴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0632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Cell化部署策略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三层: 中心Cell+区域Cell+边缘Cell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渐进式: 同城Grid→跨Region→全国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AMF Set映射到Grid Cell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UPF跨Region无感切换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Anycast GTP-U: 单IP, BGP自动收敛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会话状态同步: 增量同步&lt;10ms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SMF驱动: 500ms内完成切换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数据一致性保障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UE/PDU Session: Paxos/Raft强一致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计费数据: 最终一致性(分钟级)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GaussDB方案: 分布式事务+跨AZ容灾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SRE体系借鉴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错误预算驱动交付节奏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Chaos Engineering验证Grid有效性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5989320"/>
            <a:ext cx="7863840" cy="685800"/>
          </a:xfrm>
          <a:prstGeom prst="rect">
            <a:avLst/>
          </a:prstGeom>
          <a:solidFill>
            <a:srgbClr val="0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0076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洞察启示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单元化(Cell-Based)是故障爆炸半径控制的核心手段 —— 从应用级部署演进到基础设施级自治 | 数据面去中心化 + 控制面统一编排 = Grid架构的"车之两轮" | 有状态应用(AMF/SMF/UPF)的跨Region多活是核心网Grid化的关键技术难题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看行业：AI for 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AI可靠性能力 vs 云核心网需求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2296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2560320"/>
                <a:gridCol w="14630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业界AI水平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核心网适配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异常检测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Transformer/SSM秒级感知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5GC信令KPI监测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可直接迁移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根因定位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GNN+因果推断分钟级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跨NF根因定位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需适配拓扑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故障预测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时间序列预测(Transformer)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话务预测+扩缩容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可直接迁移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自动自愈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RL+Agent实验阶段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NF自动重启/迁移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需严格护栏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LLM运维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日志分析+修复建议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3GPP规范+信令日志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需领域微调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" y="2788920"/>
            <a:ext cx="4754880" cy="256032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AI技术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63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1) AWS: 小模型→Agent化改造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自动化推理: SMT求解器每天数十亿次推理检查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小模型原子能力长期积累 → Agent快速编排适配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DevOps Guru: ML驱动的云运维, 基于运营数据训练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2) 微软: 仿真评估验证体系, 保障Agent输出可靠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HALO: 层次化故障定位(服务→集群→实例)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NENYA: 级联RL故障缓解, M365生产环境验证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RESIN: 内存泄漏自动化处理(OSDI级别)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Harness Engineering: Agent=Model+Harness管控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ACR权衡: Agency-Control-Reliability三角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3) 终端云: 小模型→LLM/Agent→数据建模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异常检测: iTransformer/DeMa/LEFT达到SOTA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根因定位: Mulan多模态因果图(WWW'24, 被引97)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LLM日志分析: R-Log推理增强, 提升228%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Hermes Agent: 闭环自进化, 64K stars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1">
                <a:solidFill>
                  <a:srgbClr val="FF9F43"/>
                </a:solidFill>
                <a:latin typeface="Microsoft YaHei"/>
              </a:defRPr>
            </a:pPr>
            <a:r>
              <a:t>  关键: 小模型/工具决定下限, Agent决定上限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788920"/>
            <a:ext cx="2971800" cy="256032"/>
          </a:xfrm>
          <a:prstGeom prst="rect">
            <a:avLst/>
          </a:prstGeom>
          <a:solidFill>
            <a:srgbClr val="A2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云核心网借鉴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0632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小模型原子能力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信令KPI异常检测(Isolation Forest+Transformer)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告警聚合: 百万级→千级incident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话务预测: PatchTST驱动预测性扩缩容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Agent化改造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GNN根因定位: 5GC拓扑图+NRF服务注册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LLM运维助手: 告警理解+3GPP规范查询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自愈Agent: NF重启/迁移/降级决策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Harness/仿真评估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三级置信度: 高→自动执行/中→人机协同/低→人工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Chaos Engineering验证自愈有效性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AIOpsLab基准测试评估算法选型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Agent安全护栏: 权限白名单+操作审计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5989320"/>
            <a:ext cx="7863840" cy="685800"/>
          </a:xfrm>
          <a:prstGeom prst="rect">
            <a:avLst/>
          </a:prstGeom>
          <a:solidFill>
            <a:srgbClr val="0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0076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洞察启示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小模型/工具决定下限，Agent决定上限，Harness/仿真评估决定工程可用 | AWS模式: 先积累小模型原子能力(自动化推理), 再Agent化编排 — 核心网应优先建设感知+诊断小模型 | 微软模式: 仿真评估体系是Agent可靠性的保障 — 核心网引入Agent必须有Chaos Engineering验证闭环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看行业：终端软件可靠性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D4D"/>
                </a:solidFill>
                <a:latin typeface="Microsoft YaHei"/>
              </a:defRPr>
            </a:pPr>
            <a:r>
              <a:t>终端/软件可靠性 vs 云核心网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2296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2560320"/>
                <a:gridCol w="14630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终端/软件业界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云核心网现状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</a:t>
                      </a:r>
                    </a:p>
                  </a:txBody>
                  <a:tcPr anchor="ctr">
                    <a:solidFill>
                      <a:srgbClr val="005C8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Bug发现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静态分析+Fuzzing规模化(Google/Meta)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协议测试为主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需补课Fuzzing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故障定界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SBFL谱分析+LLM免测试定位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人工日志分析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需引入SBFL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代码修复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LLM Agent自动修复(RepairAgent)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人工编码修复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需引入APR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持续保障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Tricorder集成代码审查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CI/CD基础流水线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需深度集成</a:t>
                      </a:r>
                    </a:p>
                  </a:txBody>
                  <a:tcPr anchor="ctr">
                    <a:solidFill>
                      <a:srgbClr val="121C3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分布式定位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GNN+因果推断根因分析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人工跨NF排查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BBBBCC"/>
                          </a:solidFill>
                          <a:latin typeface="Microsoft YaHei"/>
                        </a:defRPr>
                      </a:pPr>
                      <a:r>
                        <a:t>需引入AI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" y="2788920"/>
            <a:ext cx="4754880" cy="256032"/>
          </a:xfrm>
          <a:prstGeom prst="rect">
            <a:avLst/>
          </a:prstGeom>
          <a:solidFill>
            <a:srgbClr val="E8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故障定界定位修复技术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63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1) 苹果/谷歌: 问题定界→代码级定位→修复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Google Tricorder: 静态分析嵌入代码审查, 90%+有用率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Meta Infer: 分离逻辑+双推导, 数百万行/天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LLM测试失败诊断: 已集成Google Critique审查系统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9F43"/>
                </a:solidFill>
                <a:latin typeface="Microsoft YaHei"/>
              </a:defRPr>
            </a:pPr>
            <a:r>
              <a:t>  RepairAgent: LLM Agent自主修复(ICSE'25, 被引398)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2) 鸿蒙/华为: 问题定界→代码级定位→修复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DevEco Inspect: 静态分析工具集成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分布式调试: 跨设备Trace + HiTrace链路追踪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FaultLogger: 统一故障日志采集与聚合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智能日志分析: NLP驱动的日志模式提取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00D68E"/>
                </a:solidFill>
                <a:latin typeface="Microsoft YaHei"/>
              </a:defRPr>
            </a:pPr>
            <a:r>
              <a:t>3) 5GC专项: 协议Fuzzing+一致性测试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AFL-Net: 有状态网络协议灰盒Fuzzer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5GC-Fuzz: 黑盒5GC协议测试(INFOCOM'25)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CoreCrisis: 威胁引导5GC Fuzzing(USENIX'25)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1">
                <a:solidFill>
                  <a:srgbClr val="FF9F43"/>
                </a:solidFill>
                <a:latin typeface="Microsoft YaHei"/>
              </a:defRPr>
            </a:pPr>
            <a:r>
              <a:t>  三级定位: 日志定界→SBFL定位→LLM诊断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788920"/>
            <a:ext cx="2971800" cy="256032"/>
          </a:xfrm>
          <a:prstGeom prst="rect">
            <a:avLst/>
          </a:prstGeom>
          <a:solidFill>
            <a:srgbClr val="A27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云核心网借鉴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306324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Bug发现体系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NGAP/PFCP/NAS协议Fuzzing进CI流水线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SpotBugs/Clang静态分析嵌入代码审查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参考Tricorder"分析即服务"模式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故障定界定位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L1: OpenTelemetry+异常检测→网元定界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L2: SBFL谱分析+LLM→代码行定位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L3: RepairAgent→候选修复补丁</a:t>
            </a:r>
          </a:p>
          <a:p>
            <a:pPr>
              <a:lnSpc>
                <a:spcPts val="780"/>
              </a:lnSpc>
              <a:spcAft>
                <a:spcPts val="200"/>
              </a:spcAft>
              <a:defRPr sz="600" b="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A27BD8"/>
                </a:solidFill>
                <a:latin typeface="Microsoft YaHei"/>
              </a:defRPr>
            </a:pPr>
            <a:r>
              <a:t>持续可靠性保障 →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代码提交→静态分析+Fuzzing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构建→增量分析+协议测试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部署→灰度发布+端到端验证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  运维→AIOps智能运维+故障知识库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5989320"/>
            <a:ext cx="7863840" cy="685800"/>
          </a:xfrm>
          <a:prstGeom prst="rect">
            <a:avLst/>
          </a:prstGeom>
          <a:solidFill>
            <a:srgbClr val="0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0076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洞察启示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问题定界 → 代码级定位 → 自修复 —— 三级流水线将故障处理从小时级压缩到分钟级 | Google/Meta的"分析即服务"模式值得借鉴: 将静态分析无缝嵌入代码审查, 开发者零感知 | 5GC协议Fuzzing(NGAP/PFCP/NAS)是当前最大的可靠性盲区, 需优先建设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综合洞察：跨行业可靠性经验 → 云核心网技术演进路线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777240"/>
            <a:ext cx="3794760" cy="274320"/>
          </a:xfrm>
          <a:prstGeom prst="rect">
            <a:avLst/>
          </a:prstGeom>
          <a:solidFill>
            <a:srgbClr val="009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核电异构网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3794760" cy="2103120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核心洞察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先防共因,再谈冗余 — β因子是可靠性天花板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关键借鉴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纵深防御5层 → 核心网5层故障防线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异构冗余 → VM+K8s双栈→多云异构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β因子量化 → CCF防控效果可度量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能动+非能动 → 电讯级+IT级安全系统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777240"/>
            <a:ext cx="3794760" cy="274320"/>
          </a:xfrm>
          <a:prstGeom prst="rect">
            <a:avLst/>
          </a:prstGeom>
          <a:solidFill>
            <a:srgbClr val="00D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77724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云厂商分布式架构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051560"/>
            <a:ext cx="3794760" cy="2103120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09728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核心洞察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单元化(Cell-Based)控制故障爆炸半径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关键借鉴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超级AZ → AMF Set跨AZ部署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UniformLive → 有状态NF跨Region多活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GaussDB → Session数据分布式存储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SRE错误预算 → 可靠性量化管理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337560"/>
            <a:ext cx="3794760" cy="27432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33756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AI for 可靠性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611880"/>
            <a:ext cx="3794760" cy="2103120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65760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核心洞察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小模型/工具决定下限, Agent决定上限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关键借鉴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小模型原子能力 → 异常检测+根因定位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Agent化编排 → 自愈决策+修复执行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Harness/仿真评估 → Agent工程可用保障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三级置信度 → 高自动/中人机/低人工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3337560"/>
            <a:ext cx="3794760" cy="274320"/>
          </a:xfrm>
          <a:prstGeom prst="rect">
            <a:avLst/>
          </a:prstGeom>
          <a:solidFill>
            <a:srgbClr val="E8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333756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终端软件可靠性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611880"/>
            <a:ext cx="3794760" cy="2103120"/>
          </a:xfrm>
          <a:prstGeom prst="rect">
            <a:avLst/>
          </a:prstGeom>
          <a:solidFill>
            <a:srgbClr val="1E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657600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核心洞察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问题定界→代码定位→自修复 三级流水线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1">
                <a:solidFill>
                  <a:srgbClr val="FF9F43"/>
                </a:solidFill>
                <a:latin typeface="Microsoft YaHei"/>
              </a:defRPr>
            </a:pPr>
            <a:r>
              <a:t>关键借鉴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静态分析+协议Fuzzing → Bug发现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SBFL+LLM → 免测试代码级定位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RepairAgent → LLM自动程序修复</a:t>
            </a:r>
          </a:p>
          <a:p>
            <a:pPr>
              <a:lnSpc>
                <a:spcPts val="1170"/>
              </a:lnSpc>
              <a:spcAft>
                <a:spcPts val="200"/>
              </a:spcAft>
              <a:defRPr sz="900" b="0">
                <a:solidFill>
                  <a:srgbClr val="BBBBCC"/>
                </a:solidFill>
                <a:latin typeface="Microsoft YaHei"/>
              </a:defRPr>
            </a:pPr>
            <a:r>
              <a:t>Tricorder模式 → 分析即服务嵌入审查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5852160"/>
            <a:ext cx="7863840" cy="777240"/>
          </a:xfrm>
          <a:prstGeom prst="rect">
            <a:avLst/>
          </a:prstGeom>
          <a:solidFill>
            <a:srgbClr val="0D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8704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Microsoft YaHei"/>
              </a:defRPr>
            </a:pPr>
            <a:r>
              <a:t>演进路线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10819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短期(6月): 静态分析+异常检测+告警聚合+Fuzzing → 缺陷逃逸率降50% | 中期(1-2年): Grid同城多活+AI根因定位+LLM运维助手+VM/K8s双栈 → 可用性99.995% | 长期(3-5年): 全国Grid化+多云异构+AI全自动自愈+概率风险评估 → 可用性99.999%, β&lt;0.01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